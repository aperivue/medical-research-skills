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presentation demonstrates the MedSci Skills pipeline — from a single line of Python code to a publication-ready manuscript, figures, reporting compliance audit, and now this presentation. All generated using open-source skills for Claude Code.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Breast cancer remains the most frequently diagnosed cancer in women worldwide. FNA cytology is a key diagnostic tool for palpable breast masses. The Wisconsin dataset is one of the most cited in machine learning — 30 features from digitized FNA images. Despite thousands of studies, rigorous head-to-head comparisons with DeLong testing for AUC differences are surprisingly rare.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objective was to compare three widely used classifiers: logistic regression, random forest, and SVM. We chose these because they represent three fundamentally different approaches: linear, ensemble, and kernel-based. All used default hyperparameters to ensure a fair, reproducible comparison.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a retrospective diagnostic accuracy study. Key methodological points: stratified 5-fold CV to maintain class proportions, StandardScaler fitted exclusively on training data within each fold to prevent leakage, and DeLong method for AUC confidence intervals — which is the correct approach for correlated ROC curves on the same dataset.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 shows baseline characteristics. Age was comparable between groups. All morphometric features — radius, texture, perimeter, area, smoothness — were significantly different, with malignant specimens showing larger values. This is expected and confirms the discriminative potential of these features.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ROC curves show all three models clustered near the upper left corner, indicating excellent discrimination. The legend shows AUC with DeLong 95% CIs. Visually the curves are nearly overlapping, but formal statistical testing reveals important differences we'll discuss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models performed excellently. Logistic regression achieved the highest AUC at 0.995, closely followed by SVM at 0.994. The DeLong test shows SVM significantly outperformed random forest (p=0.043), while LR and SVM were statistically indistinguishable (p=0.568). Note that all metrics include 95% CIs — this is a requirement for proper reporting per STARD guidelines.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key discussion points. First, logistic regression matched SVM — suggesting that for well-characterized feature spaces, simpler is often better. Second, the DeLong test detected a significant difference between RF and SVM that point estimates would have missed. This underscores why we need proper statistical comparison, not just eyeballing AUC numbers. Limitations include the curated nature of the dataset and lack of hyperparameter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check-reporting skill automatically audited the manuscript against STARD 2015. 19 of 30 items were fully present, 5 partial, 6 missing. Critically, it provides specific fix recommendations — for example, telling us exactly what sentence to add for Item 7 (sampling method). This is what usually takes a reviewer 30+ minutes, done in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summarizes the full pipeline. Six skills were used in sequence: data loading, statistical analysis, figure generation, manuscript writing, STARD compliance checking, and presentation creation. 14 output files from 2 Python scripts and a series of skill invocations. Zero hallucinated citations — every reference needs verified DOI or PMID.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logistic regression and SVM both achieved AUC above 0.99. The key message is twofold: first, simpler models can match complex ones when features are well-characterized. Second, the DeLong test is essential for proper model comparison. And the meta-message: this entire presentation was auto-generated by MedSci Skills.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MedSci Skills is open source, MIT licensed, and free forever. It was built by a radiologist who actually writes papers, so it knows what proper statistical reporting looks like.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2926080"/>
            <a:ext cx="12191695" cy="548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371600"/>
          </a:xfrm>
          <a:prstGeom prst="rect">
            <a:avLst/>
          </a:prstGeom>
          <a:noFill/>
        </p:spPr>
        <p:txBody>
          <a:bodyPr wrap="square">
            <a:spAutoFit/>
          </a:bodyPr>
          <a:lstStyle/>
          <a:p>
            <a:pPr algn="l">
              <a:defRPr sz="3200" b="1">
                <a:solidFill>
                  <a:srgbClr val="FFFFFF"/>
                </a:solidFill>
                <a:latin typeface="Calibri"/>
              </a:defRPr>
            </a:pPr>
            <a:r>
              <a:t>Comparative Diagnostic Accuracy of</a:t>
            </a:r>
            <a:br/>
            <a:r>
              <a:t>Machine Learning Models for Breast Cancer Classification</a:t>
            </a:r>
          </a:p>
        </p:txBody>
      </p:sp>
      <p:sp>
        <p:nvSpPr>
          <p:cNvPr id="4" name="TextBox 3"/>
          <p:cNvSpPr txBox="1"/>
          <p:nvPr/>
        </p:nvSpPr>
        <p:spPr>
          <a:xfrm>
            <a:off x="914400" y="3291840"/>
            <a:ext cx="10058400" cy="457200"/>
          </a:xfrm>
          <a:prstGeom prst="rect">
            <a:avLst/>
          </a:prstGeom>
          <a:noFill/>
        </p:spPr>
        <p:txBody>
          <a:bodyPr wrap="square">
            <a:spAutoFit/>
          </a:bodyPr>
          <a:lstStyle/>
          <a:p>
            <a:pPr algn="l">
              <a:defRPr sz="2000" b="0">
                <a:solidFill>
                  <a:srgbClr val="AACCEE"/>
                </a:solidFill>
                <a:latin typeface="Calibri"/>
              </a:defRPr>
            </a:pPr>
            <a:r>
              <a:t>Using Fine Needle Aspiration Cytology Features</a:t>
            </a:r>
          </a:p>
        </p:txBody>
      </p:sp>
      <p:sp>
        <p:nvSpPr>
          <p:cNvPr id="5" name="TextBox 4"/>
          <p:cNvSpPr txBox="1"/>
          <p:nvPr/>
        </p:nvSpPr>
        <p:spPr>
          <a:xfrm>
            <a:off x="914400" y="4572000"/>
            <a:ext cx="10058400" cy="731520"/>
          </a:xfrm>
          <a:prstGeom prst="rect">
            <a:avLst/>
          </a:prstGeom>
          <a:noFill/>
        </p:spPr>
        <p:txBody>
          <a:bodyPr wrap="square">
            <a:spAutoFit/>
          </a:bodyPr>
          <a:lstStyle/>
          <a:p>
            <a:pPr algn="l">
              <a:defRPr sz="1400" b="0">
                <a:solidFill>
                  <a:srgbClr val="88AACC"/>
                </a:solidFill>
                <a:latin typeface="Calibri"/>
              </a:defRPr>
            </a:pPr>
            <a:r>
              <a:t>MedSci Skills Demo  |  Wisconsin Breast Cancer Dataset  |  2026</a:t>
            </a:r>
          </a:p>
        </p:txBody>
      </p:sp>
      <p:sp>
        <p:nvSpPr>
          <p:cNvPr id="6" name="TextBox 5"/>
          <p:cNvSpPr txBox="1"/>
          <p:nvPr/>
        </p:nvSpPr>
        <p:spPr>
          <a:xfrm>
            <a:off x="914400" y="5303520"/>
            <a:ext cx="10058400" cy="457200"/>
          </a:xfrm>
          <a:prstGeom prst="rect">
            <a:avLst/>
          </a:prstGeom>
          <a:noFill/>
        </p:spPr>
        <p:txBody>
          <a:bodyPr wrap="square">
            <a:spAutoFit/>
          </a:bodyPr>
          <a:lstStyle/>
          <a:p>
            <a:pPr algn="l">
              <a:defRPr sz="1200" b="0">
                <a:solidFill>
                  <a:srgbClr val="6688AA"/>
                </a:solidFill>
                <a:latin typeface="Calibri"/>
              </a:defRPr>
            </a:pPr>
            <a:r>
              <a:t>Generated by: analyze-stats + make-figures + write-paper + check-reporting + present-paper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Background</a:t>
            </a:r>
          </a:p>
        </p:txBody>
      </p:sp>
      <p:sp>
        <p:nvSpPr>
          <p:cNvPr id="4" name="TextBox 3"/>
          <p:cNvSpPr txBox="1"/>
          <p:nvPr/>
        </p:nvSpPr>
        <p:spPr>
          <a:xfrm>
            <a:off x="731520" y="1371600"/>
            <a:ext cx="10515600" cy="4572000"/>
          </a:xfrm>
          <a:prstGeom prst="rect">
            <a:avLst/>
          </a:prstGeom>
          <a:noFill/>
        </p:spPr>
        <p:txBody>
          <a:bodyPr wrap="square">
            <a:spAutoFit/>
          </a:bodyPr>
          <a:lstStyle/>
          <a:p>
            <a:pPr>
              <a:spcAft>
                <a:spcPts val="800"/>
              </a:spcAft>
              <a:defRPr sz="1800">
                <a:solidFill>
                  <a:srgbClr val="333333"/>
                </a:solidFill>
                <a:latin typeface="Calibri"/>
              </a:defRPr>
            </a:pPr>
            <a:r>
              <a:t>Breast cancer: most common malignancy in women (2.3M new cases/year globally)</a:t>
            </a:r>
          </a:p>
          <a:p>
            <a:pPr>
              <a:spcAft>
                <a:spcPts val="800"/>
              </a:spcAft>
              <a:defRPr sz="1800">
                <a:solidFill>
                  <a:srgbClr val="333333"/>
                </a:solidFill>
                <a:latin typeface="Calibri"/>
              </a:defRPr>
            </a:pPr>
            <a:r>
              <a:t>Fine needle aspiration (FNA) cytology: minimally invasive, first-line diagnostic tool</a:t>
            </a:r>
          </a:p>
          <a:p>
            <a:pPr>
              <a:spcAft>
                <a:spcPts val="800"/>
              </a:spcAft>
              <a:defRPr sz="1800">
                <a:solidFill>
                  <a:srgbClr val="333333"/>
                </a:solidFill>
                <a:latin typeface="Calibri"/>
              </a:defRPr>
            </a:pPr>
            <a:r>
              <a:t>Wisconsin BC Dataset: 569 FNA specimens, 30 nuclear morphometric features</a:t>
            </a:r>
          </a:p>
          <a:p>
            <a:pPr>
              <a:spcAft>
                <a:spcPts val="800"/>
              </a:spcAft>
              <a:defRPr sz="1800">
                <a:solidFill>
                  <a:srgbClr val="333333"/>
                </a:solidFill>
                <a:latin typeface="Calibri"/>
              </a:defRPr>
            </a:pPr>
            <a:r>
              <a:t>30,000+ citations since Wolberg et al. (1995) — the benchmark for ML in pathology</a:t>
            </a:r>
          </a:p>
          <a:p>
            <a:pPr>
              <a:spcAft>
                <a:spcPts val="800"/>
              </a:spcAft>
              <a:defRPr sz="1800">
                <a:solidFill>
                  <a:srgbClr val="333333"/>
                </a:solidFill>
                <a:latin typeface="Calibri"/>
              </a:defRPr>
            </a:pPr>
            <a:r>
              <a:t>Gap: head-to-head ML model comparisons with proper statistical testing are uncommon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Study Objectives</a:t>
            </a:r>
          </a:p>
        </p:txBody>
      </p:sp>
      <p:sp>
        <p:nvSpPr>
          <p:cNvPr id="4" name="TextBox 3"/>
          <p:cNvSpPr txBox="1"/>
          <p:nvPr/>
        </p:nvSpPr>
        <p:spPr>
          <a:xfrm>
            <a:off x="731520" y="1645920"/>
            <a:ext cx="10515600" cy="548640"/>
          </a:xfrm>
          <a:prstGeom prst="rect">
            <a:avLst/>
          </a:prstGeom>
          <a:noFill/>
        </p:spPr>
        <p:txBody>
          <a:bodyPr wrap="square">
            <a:spAutoFit/>
          </a:bodyPr>
          <a:lstStyle/>
          <a:p>
            <a:pPr algn="l">
              <a:defRPr sz="2000" b="1">
                <a:solidFill>
                  <a:srgbClr val="0072B2"/>
                </a:solidFill>
                <a:latin typeface="Calibri"/>
              </a:defRPr>
            </a:pPr>
            <a:r>
              <a:t>Primary Objective</a:t>
            </a:r>
          </a:p>
        </p:txBody>
      </p:sp>
      <p:sp>
        <p:nvSpPr>
          <p:cNvPr id="5" name="TextBox 4"/>
          <p:cNvSpPr txBox="1"/>
          <p:nvPr/>
        </p:nvSpPr>
        <p:spPr>
          <a:xfrm>
            <a:off x="731520" y="2194560"/>
            <a:ext cx="10515600" cy="914400"/>
          </a:xfrm>
          <a:prstGeom prst="rect">
            <a:avLst/>
          </a:prstGeom>
          <a:noFill/>
        </p:spPr>
        <p:txBody>
          <a:bodyPr wrap="square">
            <a:spAutoFit/>
          </a:bodyPr>
          <a:lstStyle/>
          <a:p>
            <a:pPr algn="l">
              <a:defRPr sz="1800" b="0">
                <a:solidFill>
                  <a:srgbClr val="333333"/>
                </a:solidFill>
                <a:latin typeface="Calibri"/>
              </a:defRPr>
            </a:pPr>
            <a:r>
              <a:t>Compare diagnostic accuracy (AUC) of three ML classifiers for breast FNA classification</a:t>
            </a:r>
          </a:p>
        </p:txBody>
      </p:sp>
      <p:sp>
        <p:nvSpPr>
          <p:cNvPr id="6" name="TextBox 5"/>
          <p:cNvSpPr txBox="1"/>
          <p:nvPr/>
        </p:nvSpPr>
        <p:spPr>
          <a:xfrm>
            <a:off x="731520" y="3291840"/>
            <a:ext cx="10515600" cy="548640"/>
          </a:xfrm>
          <a:prstGeom prst="rect">
            <a:avLst/>
          </a:prstGeom>
          <a:noFill/>
        </p:spPr>
        <p:txBody>
          <a:bodyPr wrap="square">
            <a:spAutoFit/>
          </a:bodyPr>
          <a:lstStyle/>
          <a:p>
            <a:pPr algn="l">
              <a:defRPr sz="2000" b="1">
                <a:solidFill>
                  <a:srgbClr val="0072B2"/>
                </a:solidFill>
                <a:latin typeface="Calibri"/>
              </a:defRPr>
            </a:pPr>
            <a:r>
              <a:t>Models Compared</a:t>
            </a:r>
          </a:p>
        </p:txBody>
      </p:sp>
      <p:sp>
        <p:nvSpPr>
          <p:cNvPr id="7" name="TextBox 6"/>
          <p:cNvSpPr txBox="1"/>
          <p:nvPr/>
        </p:nvSpPr>
        <p:spPr>
          <a:xfrm>
            <a:off x="731520" y="3840480"/>
            <a:ext cx="10515600" cy="2286000"/>
          </a:xfrm>
          <a:prstGeom prst="rect">
            <a:avLst/>
          </a:prstGeom>
          <a:noFill/>
        </p:spPr>
        <p:txBody>
          <a:bodyPr wrap="square">
            <a:spAutoFit/>
          </a:bodyPr>
          <a:lstStyle/>
          <a:p>
            <a:pPr>
              <a:spcAft>
                <a:spcPts val="800"/>
              </a:spcAft>
              <a:defRPr sz="1800">
                <a:solidFill>
                  <a:srgbClr val="333333"/>
                </a:solidFill>
                <a:latin typeface="Calibri"/>
              </a:defRPr>
            </a:pPr>
            <a:r>
              <a:t>1.  Logistic Regression (L2 regularization)</a:t>
            </a:r>
          </a:p>
          <a:p>
            <a:pPr>
              <a:spcAft>
                <a:spcPts val="800"/>
              </a:spcAft>
              <a:defRPr sz="1800">
                <a:solidFill>
                  <a:srgbClr val="333333"/>
                </a:solidFill>
                <a:latin typeface="Calibri"/>
              </a:defRPr>
            </a:pPr>
            <a:r>
              <a:t>2.  Random Forest (100 trees)</a:t>
            </a:r>
          </a:p>
          <a:p>
            <a:pPr>
              <a:spcAft>
                <a:spcPts val="800"/>
              </a:spcAft>
              <a:defRPr sz="1800">
                <a:solidFill>
                  <a:srgbClr val="333333"/>
                </a:solidFill>
                <a:latin typeface="Calibri"/>
              </a:defRPr>
            </a:pPr>
            <a:r>
              <a:t>3.  Support Vector Machine (RBF kernel + Platt scaling)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Methods</a:t>
            </a:r>
          </a:p>
        </p:txBody>
      </p:sp>
      <p:sp>
        <p:nvSpPr>
          <p:cNvPr id="4" name="TextBox 3"/>
          <p:cNvSpPr txBox="1"/>
          <p:nvPr/>
        </p:nvSpPr>
        <p:spPr>
          <a:xfrm>
            <a:off x="731520" y="1371600"/>
            <a:ext cx="5029200" cy="457200"/>
          </a:xfrm>
          <a:prstGeom prst="rect">
            <a:avLst/>
          </a:prstGeom>
          <a:noFill/>
        </p:spPr>
        <p:txBody>
          <a:bodyPr wrap="square">
            <a:spAutoFit/>
          </a:bodyPr>
          <a:lstStyle/>
          <a:p>
            <a:pPr algn="l">
              <a:defRPr sz="1800" b="1">
                <a:solidFill>
                  <a:srgbClr val="0072B2"/>
                </a:solidFill>
                <a:latin typeface="Calibri"/>
              </a:defRPr>
            </a:pPr>
            <a:r>
              <a:t>Study Design</a:t>
            </a:r>
          </a:p>
        </p:txBody>
      </p:sp>
      <p:sp>
        <p:nvSpPr>
          <p:cNvPr id="5" name="TextBox 4"/>
          <p:cNvSpPr txBox="1"/>
          <p:nvPr/>
        </p:nvSpPr>
        <p:spPr>
          <a:xfrm>
            <a:off x="731520" y="1920240"/>
            <a:ext cx="5029200" cy="3657600"/>
          </a:xfrm>
          <a:prstGeom prst="rect">
            <a:avLst/>
          </a:prstGeom>
          <a:noFill/>
        </p:spPr>
        <p:txBody>
          <a:bodyPr wrap="square">
            <a:spAutoFit/>
          </a:bodyPr>
          <a:lstStyle/>
          <a:p>
            <a:pPr>
              <a:spcAft>
                <a:spcPts val="800"/>
              </a:spcAft>
              <a:defRPr sz="1500">
                <a:solidFill>
                  <a:srgbClr val="333333"/>
                </a:solidFill>
                <a:latin typeface="Calibri"/>
              </a:defRPr>
            </a:pPr>
            <a:r>
              <a:t>Retrospective cross-sectional diagnostic accuracy study</a:t>
            </a:r>
          </a:p>
          <a:p>
            <a:pPr>
              <a:spcAft>
                <a:spcPts val="800"/>
              </a:spcAft>
              <a:defRPr sz="1500">
                <a:solidFill>
                  <a:srgbClr val="333333"/>
                </a:solidFill>
                <a:latin typeface="Calibri"/>
              </a:defRPr>
            </a:pPr>
            <a:r>
              <a:t>Dataset: Wisconsin BC (UCI / sklearn)</a:t>
            </a:r>
          </a:p>
          <a:p>
            <a:pPr>
              <a:spcAft>
                <a:spcPts val="800"/>
              </a:spcAft>
              <a:defRPr sz="1500">
                <a:solidFill>
                  <a:srgbClr val="333333"/>
                </a:solidFill>
                <a:latin typeface="Calibri"/>
              </a:defRPr>
            </a:pPr>
            <a:r>
              <a:t>n = 569 (357 benign, 212 malignant)</a:t>
            </a:r>
          </a:p>
          <a:p>
            <a:pPr>
              <a:spcAft>
                <a:spcPts val="800"/>
              </a:spcAft>
              <a:defRPr sz="1500">
                <a:solidFill>
                  <a:srgbClr val="333333"/>
                </a:solidFill>
                <a:latin typeface="Calibri"/>
              </a:defRPr>
            </a:pPr>
            <a:r>
              <a:t>Reference standard: histopathological diagnosis</a:t>
            </a:r>
          </a:p>
          <a:p>
            <a:pPr>
              <a:spcAft>
                <a:spcPts val="800"/>
              </a:spcAft>
              <a:defRPr sz="1500">
                <a:solidFill>
                  <a:srgbClr val="333333"/>
                </a:solidFill>
                <a:latin typeface="Calibri"/>
              </a:defRPr>
            </a:pPr>
            <a:r>
              <a:t>Reporting guideline: STARD 2015</a:t>
            </a:r>
          </a:p>
        </p:txBody>
      </p:sp>
      <p:sp>
        <p:nvSpPr>
          <p:cNvPr id="6" name="TextBox 5"/>
          <p:cNvSpPr txBox="1"/>
          <p:nvPr/>
        </p:nvSpPr>
        <p:spPr>
          <a:xfrm>
            <a:off x="6400800" y="1371600"/>
            <a:ext cx="5029200" cy="457200"/>
          </a:xfrm>
          <a:prstGeom prst="rect">
            <a:avLst/>
          </a:prstGeom>
          <a:noFill/>
        </p:spPr>
        <p:txBody>
          <a:bodyPr wrap="square">
            <a:spAutoFit/>
          </a:bodyPr>
          <a:lstStyle/>
          <a:p>
            <a:pPr algn="l">
              <a:defRPr sz="1800" b="1">
                <a:solidFill>
                  <a:srgbClr val="0072B2"/>
                </a:solidFill>
                <a:latin typeface="Calibri"/>
              </a:defRPr>
            </a:pPr>
            <a:r>
              <a:t>Evaluation Strategy</a:t>
            </a:r>
          </a:p>
        </p:txBody>
      </p:sp>
      <p:sp>
        <p:nvSpPr>
          <p:cNvPr id="7" name="TextBox 6"/>
          <p:cNvSpPr txBox="1"/>
          <p:nvPr/>
        </p:nvSpPr>
        <p:spPr>
          <a:xfrm>
            <a:off x="6400800" y="1920240"/>
            <a:ext cx="5029200" cy="3657600"/>
          </a:xfrm>
          <a:prstGeom prst="rect">
            <a:avLst/>
          </a:prstGeom>
          <a:noFill/>
        </p:spPr>
        <p:txBody>
          <a:bodyPr wrap="square">
            <a:spAutoFit/>
          </a:bodyPr>
          <a:lstStyle/>
          <a:p>
            <a:pPr>
              <a:spcAft>
                <a:spcPts val="800"/>
              </a:spcAft>
              <a:defRPr sz="1500">
                <a:solidFill>
                  <a:srgbClr val="333333"/>
                </a:solidFill>
                <a:latin typeface="Calibri"/>
              </a:defRPr>
            </a:pPr>
            <a:r>
              <a:t>Stratified 5-fold cross-validation (seed = 42)</a:t>
            </a:r>
          </a:p>
          <a:p>
            <a:pPr>
              <a:spcAft>
                <a:spcPts val="800"/>
              </a:spcAft>
              <a:defRPr sz="1500">
                <a:solidFill>
                  <a:srgbClr val="333333"/>
                </a:solidFill>
                <a:latin typeface="Calibri"/>
              </a:defRPr>
            </a:pPr>
            <a:r>
              <a:t>StandardScaler fit on training fold only (no leakage)</a:t>
            </a:r>
          </a:p>
          <a:p>
            <a:pPr>
              <a:spcAft>
                <a:spcPts val="800"/>
              </a:spcAft>
              <a:defRPr sz="1500">
                <a:solidFill>
                  <a:srgbClr val="333333"/>
                </a:solidFill>
                <a:latin typeface="Calibri"/>
              </a:defRPr>
            </a:pPr>
            <a:r>
              <a:t>Primary endpoint: AUC with DeLong 95% CI</a:t>
            </a:r>
          </a:p>
          <a:p>
            <a:pPr>
              <a:spcAft>
                <a:spcPts val="800"/>
              </a:spcAft>
              <a:defRPr sz="1500">
                <a:solidFill>
                  <a:srgbClr val="333333"/>
                </a:solidFill>
                <a:latin typeface="Calibri"/>
              </a:defRPr>
            </a:pPr>
            <a:r>
              <a:t>Secondary: Sensitivity, Specificity, PPV, NPV (Wilson CI)</a:t>
            </a:r>
          </a:p>
          <a:p>
            <a:pPr>
              <a:spcAft>
                <a:spcPts val="800"/>
              </a:spcAft>
              <a:defRPr sz="1500">
                <a:solidFill>
                  <a:srgbClr val="333333"/>
                </a:solidFill>
                <a:latin typeface="Calibri"/>
              </a:defRPr>
            </a:pPr>
            <a:r>
              <a:t>Pairwise comparison: DeLong 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Results — Table 1: Baseline Characteristics</a:t>
            </a:r>
          </a:p>
        </p:txBody>
      </p:sp>
      <p:graphicFrame>
        <p:nvGraphicFramePr>
          <p:cNvPr id="4" name="Table 3"/>
          <p:cNvGraphicFramePr>
            <a:graphicFrameLocks noGrp="1"/>
          </p:cNvGraphicFramePr>
          <p:nvPr/>
        </p:nvGraphicFramePr>
        <p:xfrm>
          <a:off x="1097280" y="1371600"/>
          <a:ext cx="10058400" cy="2560320"/>
        </p:xfrm>
        <a:graphic>
          <a:graphicData uri="http://schemas.openxmlformats.org/drawingml/2006/table">
            <a:tbl>
              <a:tblPr firstRow="1" bandRow="1">
                <a:tableStyleId>{5C22544A-7EE6-4342-B048-85BDC9FD1C3A}</a:tableStyleId>
              </a:tblPr>
              <a:tblGrid>
                <a:gridCol w="3200400"/>
                <a:gridCol w="2743200"/>
                <a:gridCol w="2743200"/>
                <a:gridCol w="1371600"/>
              </a:tblGrid>
              <a:tr h="365760">
                <a:tc>
                  <a:txBody>
                    <a:bodyPr/>
                    <a:lstStyle/>
                    <a:p>
                      <a:pPr>
                        <a:defRPr sz="1300" b="1">
                          <a:solidFill>
                            <a:srgbClr val="FFFFFF"/>
                          </a:solidFill>
                          <a:latin typeface="Calibri"/>
                        </a:defRPr>
                      </a:pPr>
                      <a:r>
                        <a:t>Variable</a:t>
                      </a:r>
                    </a:p>
                  </a:txBody>
                  <a:tcPr>
                    <a:solidFill>
                      <a:srgbClr val="1B2A4A"/>
                    </a:solidFill>
                  </a:tcPr>
                </a:tc>
                <a:tc>
                  <a:txBody>
                    <a:bodyPr/>
                    <a:lstStyle/>
                    <a:p>
                      <a:pPr>
                        <a:defRPr sz="1300" b="1">
                          <a:solidFill>
                            <a:srgbClr val="FFFFFF"/>
                          </a:solidFill>
                          <a:latin typeface="Calibri"/>
                        </a:defRPr>
                      </a:pPr>
                      <a:r>
                        <a:t>Benign (n=357)</a:t>
                      </a:r>
                    </a:p>
                  </a:txBody>
                  <a:tcPr>
                    <a:solidFill>
                      <a:srgbClr val="1B2A4A"/>
                    </a:solidFill>
                  </a:tcPr>
                </a:tc>
                <a:tc>
                  <a:txBody>
                    <a:bodyPr/>
                    <a:lstStyle/>
                    <a:p>
                      <a:pPr>
                        <a:defRPr sz="1300" b="1">
                          <a:solidFill>
                            <a:srgbClr val="FFFFFF"/>
                          </a:solidFill>
                          <a:latin typeface="Calibri"/>
                        </a:defRPr>
                      </a:pPr>
                      <a:r>
                        <a:t>Malignant (n=212)</a:t>
                      </a:r>
                    </a:p>
                  </a:txBody>
                  <a:tcPr>
                    <a:solidFill>
                      <a:srgbClr val="1B2A4A"/>
                    </a:solidFill>
                  </a:tcPr>
                </a:tc>
                <a:tc>
                  <a:txBody>
                    <a:bodyPr/>
                    <a:lstStyle/>
                    <a:p>
                      <a:pPr>
                        <a:defRPr sz="1300" b="1">
                          <a:solidFill>
                            <a:srgbClr val="FFFFFF"/>
                          </a:solidFill>
                          <a:latin typeface="Calibri"/>
                        </a:defRPr>
                      </a:pPr>
                      <a:r>
                        <a:t>p-value</a:t>
                      </a:r>
                    </a:p>
                  </a:txBody>
                  <a:tcPr>
                    <a:solidFill>
                      <a:srgbClr val="1B2A4A"/>
                    </a:solidFill>
                  </a:tcPr>
                </a:tc>
              </a:tr>
              <a:tr h="365760">
                <a:tc>
                  <a:txBody>
                    <a:bodyPr/>
                    <a:lstStyle/>
                    <a:p>
                      <a:pPr>
                        <a:defRPr sz="1200">
                          <a:solidFill>
                            <a:srgbClr val="333333"/>
                          </a:solidFill>
                          <a:latin typeface="Calibri"/>
                        </a:defRPr>
                      </a:pPr>
                      <a:r>
                        <a:t>Age (years), mean +/- SD</a:t>
                      </a:r>
                    </a:p>
                  </a:txBody>
                  <a:tcPr>
                    <a:solidFill>
                      <a:srgbClr val="F5F5F5"/>
                    </a:solidFill>
                  </a:tcPr>
                </a:tc>
                <a:tc>
                  <a:txBody>
                    <a:bodyPr/>
                    <a:lstStyle/>
                    <a:p>
                      <a:pPr>
                        <a:defRPr sz="1200">
                          <a:solidFill>
                            <a:srgbClr val="333333"/>
                          </a:solidFill>
                          <a:latin typeface="Calibri"/>
                        </a:defRPr>
                      </a:pPr>
                      <a:r>
                        <a:t>53.8 +/- 11.9</a:t>
                      </a:r>
                    </a:p>
                  </a:txBody>
                  <a:tcPr>
                    <a:solidFill>
                      <a:srgbClr val="F5F5F5"/>
                    </a:solidFill>
                  </a:tcPr>
                </a:tc>
                <a:tc>
                  <a:txBody>
                    <a:bodyPr/>
                    <a:lstStyle/>
                    <a:p>
                      <a:pPr>
                        <a:defRPr sz="1200">
                          <a:solidFill>
                            <a:srgbClr val="333333"/>
                          </a:solidFill>
                          <a:latin typeface="Calibri"/>
                        </a:defRPr>
                      </a:pPr>
                      <a:r>
                        <a:t>55.1 +/- 10.6</a:t>
                      </a:r>
                    </a:p>
                  </a:txBody>
                  <a:tcPr>
                    <a:solidFill>
                      <a:srgbClr val="F5F5F5"/>
                    </a:solidFill>
                  </a:tcPr>
                </a:tc>
                <a:tc>
                  <a:txBody>
                    <a:bodyPr/>
                    <a:lstStyle/>
                    <a:p>
                      <a:pPr>
                        <a:defRPr sz="1200">
                          <a:solidFill>
                            <a:srgbClr val="333333"/>
                          </a:solidFill>
                          <a:latin typeface="Calibri"/>
                        </a:defRPr>
                      </a:pPr>
                      <a:r>
                        <a:t>0.219</a:t>
                      </a:r>
                    </a:p>
                  </a:txBody>
                  <a:tcPr>
                    <a:solidFill>
                      <a:srgbClr val="F5F5F5"/>
                    </a:solidFill>
                  </a:tcPr>
                </a:tc>
              </a:tr>
              <a:tr h="365760">
                <a:tc>
                  <a:txBody>
                    <a:bodyPr/>
                    <a:lstStyle/>
                    <a:p>
                      <a:pPr>
                        <a:defRPr sz="1200">
                          <a:solidFill>
                            <a:srgbClr val="333333"/>
                          </a:solidFill>
                          <a:latin typeface="Calibri"/>
                        </a:defRPr>
                      </a:pPr>
                      <a:r>
                        <a:t>Mean radius, median (IQR)</a:t>
                      </a:r>
                    </a:p>
                  </a:txBody>
                  <a:tcPr>
                    <a:solidFill>
                      <a:srgbClr val="FFFFFF"/>
                    </a:solidFill>
                  </a:tcPr>
                </a:tc>
                <a:tc>
                  <a:txBody>
                    <a:bodyPr/>
                    <a:lstStyle/>
                    <a:p>
                      <a:pPr>
                        <a:defRPr sz="1200">
                          <a:solidFill>
                            <a:srgbClr val="333333"/>
                          </a:solidFill>
                          <a:latin typeface="Calibri"/>
                        </a:defRPr>
                      </a:pPr>
                      <a:r>
                        <a:t>12.2 (11.1-13.4)</a:t>
                      </a:r>
                    </a:p>
                  </a:txBody>
                  <a:tcPr>
                    <a:solidFill>
                      <a:srgbClr val="FFFFFF"/>
                    </a:solidFill>
                  </a:tcPr>
                </a:tc>
                <a:tc>
                  <a:txBody>
                    <a:bodyPr/>
                    <a:lstStyle/>
                    <a:p>
                      <a:pPr>
                        <a:defRPr sz="1200">
                          <a:solidFill>
                            <a:srgbClr val="333333"/>
                          </a:solidFill>
                          <a:latin typeface="Calibri"/>
                        </a:defRPr>
                      </a:pPr>
                      <a:r>
                        <a:t>17.3 (15.1-19.6)</a:t>
                      </a:r>
                    </a:p>
                  </a:txBody>
                  <a:tcPr>
                    <a:solidFill>
                      <a:srgbClr val="FFFFFF"/>
                    </a:solidFill>
                  </a:tcPr>
                </a:tc>
                <a:tc>
                  <a:txBody>
                    <a:bodyPr/>
                    <a:lstStyle/>
                    <a:p>
                      <a:pPr>
                        <a:defRPr sz="1200" b="1">
                          <a:solidFill>
                            <a:srgbClr val="D55E00"/>
                          </a:solidFill>
                          <a:latin typeface="Calibri"/>
                        </a:defRPr>
                      </a:pPr>
                      <a:r>
                        <a:t>&lt;0.001</a:t>
                      </a:r>
                    </a:p>
                  </a:txBody>
                  <a:tcPr>
                    <a:solidFill>
                      <a:srgbClr val="FFFFFF"/>
                    </a:solidFill>
                  </a:tcPr>
                </a:tc>
              </a:tr>
              <a:tr h="365760">
                <a:tc>
                  <a:txBody>
                    <a:bodyPr/>
                    <a:lstStyle/>
                    <a:p>
                      <a:pPr>
                        <a:defRPr sz="1200">
                          <a:solidFill>
                            <a:srgbClr val="333333"/>
                          </a:solidFill>
                          <a:latin typeface="Calibri"/>
                        </a:defRPr>
                      </a:pPr>
                      <a:r>
                        <a:t>Mean texture, mean +/- SD</a:t>
                      </a:r>
                    </a:p>
                  </a:txBody>
                  <a:tcPr>
                    <a:solidFill>
                      <a:srgbClr val="F5F5F5"/>
                    </a:solidFill>
                  </a:tcPr>
                </a:tc>
                <a:tc>
                  <a:txBody>
                    <a:bodyPr/>
                    <a:lstStyle/>
                    <a:p>
                      <a:pPr>
                        <a:defRPr sz="1200">
                          <a:solidFill>
                            <a:srgbClr val="333333"/>
                          </a:solidFill>
                          <a:latin typeface="Calibri"/>
                        </a:defRPr>
                      </a:pPr>
                      <a:r>
                        <a:t>17.9 +/- 4.0</a:t>
                      </a:r>
                    </a:p>
                  </a:txBody>
                  <a:tcPr>
                    <a:solidFill>
                      <a:srgbClr val="F5F5F5"/>
                    </a:solidFill>
                  </a:tcPr>
                </a:tc>
                <a:tc>
                  <a:txBody>
                    <a:bodyPr/>
                    <a:lstStyle/>
                    <a:p>
                      <a:pPr>
                        <a:defRPr sz="1200">
                          <a:solidFill>
                            <a:srgbClr val="333333"/>
                          </a:solidFill>
                          <a:latin typeface="Calibri"/>
                        </a:defRPr>
                      </a:pPr>
                      <a:r>
                        <a:t>21.6 +/- 3.8</a:t>
                      </a:r>
                    </a:p>
                  </a:txBody>
                  <a:tcPr>
                    <a:solidFill>
                      <a:srgbClr val="F5F5F5"/>
                    </a:solidFill>
                  </a:tcPr>
                </a:tc>
                <a:tc>
                  <a:txBody>
                    <a:bodyPr/>
                    <a:lstStyle/>
                    <a:p>
                      <a:pPr>
                        <a:defRPr sz="1200" b="1">
                          <a:solidFill>
                            <a:srgbClr val="D55E00"/>
                          </a:solidFill>
                          <a:latin typeface="Calibri"/>
                        </a:defRPr>
                      </a:pPr>
                      <a:r>
                        <a:t>&lt;0.001</a:t>
                      </a:r>
                    </a:p>
                  </a:txBody>
                  <a:tcPr>
                    <a:solidFill>
                      <a:srgbClr val="F5F5F5"/>
                    </a:solidFill>
                  </a:tcPr>
                </a:tc>
              </a:tr>
              <a:tr h="365760">
                <a:tc>
                  <a:txBody>
                    <a:bodyPr/>
                    <a:lstStyle/>
                    <a:p>
                      <a:pPr>
                        <a:defRPr sz="1200">
                          <a:solidFill>
                            <a:srgbClr val="333333"/>
                          </a:solidFill>
                          <a:latin typeface="Calibri"/>
                        </a:defRPr>
                      </a:pPr>
                      <a:r>
                        <a:t>Mean perimeter, median (IQR)</a:t>
                      </a:r>
                    </a:p>
                  </a:txBody>
                  <a:tcPr>
                    <a:solidFill>
                      <a:srgbClr val="FFFFFF"/>
                    </a:solidFill>
                  </a:tcPr>
                </a:tc>
                <a:tc>
                  <a:txBody>
                    <a:bodyPr/>
                    <a:lstStyle/>
                    <a:p>
                      <a:pPr>
                        <a:defRPr sz="1200">
                          <a:solidFill>
                            <a:srgbClr val="333333"/>
                          </a:solidFill>
                          <a:latin typeface="Calibri"/>
                        </a:defRPr>
                      </a:pPr>
                      <a:r>
                        <a:t>78.2 (70.9-86.1)</a:t>
                      </a:r>
                    </a:p>
                  </a:txBody>
                  <a:tcPr>
                    <a:solidFill>
                      <a:srgbClr val="FFFFFF"/>
                    </a:solidFill>
                  </a:tcPr>
                </a:tc>
                <a:tc>
                  <a:txBody>
                    <a:bodyPr/>
                    <a:lstStyle/>
                    <a:p>
                      <a:pPr>
                        <a:defRPr sz="1200">
                          <a:solidFill>
                            <a:srgbClr val="333333"/>
                          </a:solidFill>
                          <a:latin typeface="Calibri"/>
                        </a:defRPr>
                      </a:pPr>
                      <a:r>
                        <a:t>114.2 (98.7-129.9)</a:t>
                      </a:r>
                    </a:p>
                  </a:txBody>
                  <a:tcPr>
                    <a:solidFill>
                      <a:srgbClr val="FFFFFF"/>
                    </a:solidFill>
                  </a:tcPr>
                </a:tc>
                <a:tc>
                  <a:txBody>
                    <a:bodyPr/>
                    <a:lstStyle/>
                    <a:p>
                      <a:pPr>
                        <a:defRPr sz="1200" b="1">
                          <a:solidFill>
                            <a:srgbClr val="D55E00"/>
                          </a:solidFill>
                          <a:latin typeface="Calibri"/>
                        </a:defRPr>
                      </a:pPr>
                      <a:r>
                        <a:t>&lt;0.001</a:t>
                      </a:r>
                    </a:p>
                  </a:txBody>
                  <a:tcPr>
                    <a:solidFill>
                      <a:srgbClr val="FFFFFF"/>
                    </a:solidFill>
                  </a:tcPr>
                </a:tc>
              </a:tr>
              <a:tr h="365760">
                <a:tc>
                  <a:txBody>
                    <a:bodyPr/>
                    <a:lstStyle/>
                    <a:p>
                      <a:pPr>
                        <a:defRPr sz="1200">
                          <a:solidFill>
                            <a:srgbClr val="333333"/>
                          </a:solidFill>
                          <a:latin typeface="Calibri"/>
                        </a:defRPr>
                      </a:pPr>
                      <a:r>
                        <a:t>Mean area, median (IQR)</a:t>
                      </a:r>
                    </a:p>
                  </a:txBody>
                  <a:tcPr>
                    <a:solidFill>
                      <a:srgbClr val="F5F5F5"/>
                    </a:solidFill>
                  </a:tcPr>
                </a:tc>
                <a:tc>
                  <a:txBody>
                    <a:bodyPr/>
                    <a:lstStyle/>
                    <a:p>
                      <a:pPr>
                        <a:defRPr sz="1200">
                          <a:solidFill>
                            <a:srgbClr val="333333"/>
                          </a:solidFill>
                          <a:latin typeface="Calibri"/>
                        </a:defRPr>
                      </a:pPr>
                      <a:r>
                        <a:t>458.4 (378.2-551.1)</a:t>
                      </a:r>
                    </a:p>
                  </a:txBody>
                  <a:tcPr>
                    <a:solidFill>
                      <a:srgbClr val="F5F5F5"/>
                    </a:solidFill>
                  </a:tcPr>
                </a:tc>
                <a:tc>
                  <a:txBody>
                    <a:bodyPr/>
                    <a:lstStyle/>
                    <a:p>
                      <a:pPr>
                        <a:defRPr sz="1200">
                          <a:solidFill>
                            <a:srgbClr val="333333"/>
                          </a:solidFill>
                          <a:latin typeface="Calibri"/>
                        </a:defRPr>
                      </a:pPr>
                      <a:r>
                        <a:t>932.0 (705.3-1203.8)</a:t>
                      </a:r>
                    </a:p>
                  </a:txBody>
                  <a:tcPr>
                    <a:solidFill>
                      <a:srgbClr val="F5F5F5"/>
                    </a:solidFill>
                  </a:tcPr>
                </a:tc>
                <a:tc>
                  <a:txBody>
                    <a:bodyPr/>
                    <a:lstStyle/>
                    <a:p>
                      <a:pPr>
                        <a:defRPr sz="1200" b="1">
                          <a:solidFill>
                            <a:srgbClr val="D55E00"/>
                          </a:solidFill>
                          <a:latin typeface="Calibri"/>
                        </a:defRPr>
                      </a:pPr>
                      <a:r>
                        <a:t>&lt;0.001</a:t>
                      </a:r>
                    </a:p>
                  </a:txBody>
                  <a:tcPr>
                    <a:solidFill>
                      <a:srgbClr val="F5F5F5"/>
                    </a:solidFill>
                  </a:tcPr>
                </a:tc>
              </a:tr>
              <a:tr h="365760">
                <a:tc>
                  <a:txBody>
                    <a:bodyPr/>
                    <a:lstStyle/>
                    <a:p>
                      <a:pPr>
                        <a:defRPr sz="1200">
                          <a:solidFill>
                            <a:srgbClr val="333333"/>
                          </a:solidFill>
                          <a:latin typeface="Calibri"/>
                        </a:defRPr>
                      </a:pPr>
                      <a:r>
                        <a:t>Mean smoothness, mean +/- SD</a:t>
                      </a:r>
                    </a:p>
                  </a:txBody>
                  <a:tcPr>
                    <a:solidFill>
                      <a:srgbClr val="FFFFFF"/>
                    </a:solidFill>
                  </a:tcPr>
                </a:tc>
                <a:tc>
                  <a:txBody>
                    <a:bodyPr/>
                    <a:lstStyle/>
                    <a:p>
                      <a:pPr>
                        <a:defRPr sz="1200">
                          <a:solidFill>
                            <a:srgbClr val="333333"/>
                          </a:solidFill>
                          <a:latin typeface="Calibri"/>
                        </a:defRPr>
                      </a:pPr>
                      <a:r>
                        <a:t>0.09 +/- 0.01</a:t>
                      </a:r>
                    </a:p>
                  </a:txBody>
                  <a:tcPr>
                    <a:solidFill>
                      <a:srgbClr val="FFFFFF"/>
                    </a:solidFill>
                  </a:tcPr>
                </a:tc>
                <a:tc>
                  <a:txBody>
                    <a:bodyPr/>
                    <a:lstStyle/>
                    <a:p>
                      <a:pPr>
                        <a:defRPr sz="1200">
                          <a:solidFill>
                            <a:srgbClr val="333333"/>
                          </a:solidFill>
                          <a:latin typeface="Calibri"/>
                        </a:defRPr>
                      </a:pPr>
                      <a:r>
                        <a:t>0.10 +/- 0.01</a:t>
                      </a:r>
                    </a:p>
                  </a:txBody>
                  <a:tcPr>
                    <a:solidFill>
                      <a:srgbClr val="FFFFFF"/>
                    </a:solidFill>
                  </a:tcPr>
                </a:tc>
                <a:tc>
                  <a:txBody>
                    <a:bodyPr/>
                    <a:lstStyle/>
                    <a:p>
                      <a:pPr>
                        <a:defRPr sz="1200" b="1">
                          <a:solidFill>
                            <a:srgbClr val="D55E00"/>
                          </a:solidFill>
                          <a:latin typeface="Calibri"/>
                        </a:defRPr>
                      </a:pPr>
                      <a:r>
                        <a:t>&lt;0.001</a:t>
                      </a:r>
                    </a:p>
                  </a:txBody>
                  <a:tcPr>
                    <a:solidFill>
                      <a:srgbClr val="FFFFFF"/>
                    </a:solidFill>
                  </a:tcPr>
                </a:tc>
              </a:tr>
            </a:tbl>
          </a:graphicData>
        </a:graphic>
      </p:graphicFrame>
      <p:sp>
        <p:nvSpPr>
          <p:cNvPr id="5" name="TextBox 4"/>
          <p:cNvSpPr txBox="1"/>
          <p:nvPr/>
        </p:nvSpPr>
        <p:spPr>
          <a:xfrm>
            <a:off x="1097280" y="5669280"/>
            <a:ext cx="9144000" cy="457200"/>
          </a:xfrm>
          <a:prstGeom prst="rect">
            <a:avLst/>
          </a:prstGeom>
          <a:noFill/>
        </p:spPr>
        <p:txBody>
          <a:bodyPr wrap="square">
            <a:spAutoFit/>
          </a:bodyPr>
          <a:lstStyle/>
          <a:p>
            <a:pPr algn="l">
              <a:defRPr sz="1300" b="0">
                <a:solidFill>
                  <a:srgbClr val="666666"/>
                </a:solidFill>
                <a:latin typeface="Calibri"/>
              </a:defRPr>
            </a:pPr>
            <a:r>
              <a:t>All morphometric features significantly different between groups (p &lt; 0.001) except 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Results — ROC Curves</a:t>
            </a:r>
          </a:p>
        </p:txBody>
      </p:sp>
      <p:pic>
        <p:nvPicPr>
          <p:cNvPr id="4" name="Picture 3" descr="roc_curve.png"/>
          <p:cNvPicPr>
            <a:picLocks noChangeAspect="1"/>
          </p:cNvPicPr>
          <p:nvPr/>
        </p:nvPicPr>
        <p:blipFill>
          <a:blip r:embed="rId2"/>
          <a:stretch>
            <a:fillRect/>
          </a:stretch>
        </p:blipFill>
        <p:spPr>
          <a:xfrm>
            <a:off x="3200400" y="1188720"/>
            <a:ext cx="5486400" cy="5486400"/>
          </a:xfrm>
          <a:prstGeom prst="rect">
            <a:avLst/>
          </a:prstGeom>
        </p:spPr>
      </p:pic>
      <p:sp>
        <p:nvSpPr>
          <p:cNvPr id="5" name="Rectangle 4"/>
          <p:cNvSpPr/>
          <p:nvPr/>
        </p:nvSpPr>
        <p:spPr>
          <a:xfrm>
            <a:off x="457200" y="1828800"/>
            <a:ext cx="2560320" cy="32004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2377440" cy="457200"/>
          </a:xfrm>
          <a:prstGeom prst="rect">
            <a:avLst/>
          </a:prstGeom>
          <a:noFill/>
        </p:spPr>
        <p:txBody>
          <a:bodyPr wrap="square">
            <a:spAutoFit/>
          </a:bodyPr>
          <a:lstStyle/>
          <a:p>
            <a:pPr algn="l">
              <a:defRPr sz="1400" b="1">
                <a:solidFill>
                  <a:srgbClr val="0072B2"/>
                </a:solidFill>
                <a:latin typeface="Calibri"/>
              </a:defRPr>
            </a:pPr>
            <a:r>
              <a:t>Key Finding</a:t>
            </a:r>
          </a:p>
        </p:txBody>
      </p:sp>
      <p:sp>
        <p:nvSpPr>
          <p:cNvPr id="7" name="TextBox 6"/>
          <p:cNvSpPr txBox="1"/>
          <p:nvPr/>
        </p:nvSpPr>
        <p:spPr>
          <a:xfrm>
            <a:off x="548640" y="2377440"/>
            <a:ext cx="2377440" cy="2560320"/>
          </a:xfrm>
          <a:prstGeom prst="rect">
            <a:avLst/>
          </a:prstGeom>
          <a:noFill/>
        </p:spPr>
        <p:txBody>
          <a:bodyPr wrap="square">
            <a:spAutoFit/>
          </a:bodyPr>
          <a:lstStyle/>
          <a:p>
            <a:pPr algn="l">
              <a:defRPr sz="1300" b="0">
                <a:solidFill>
                  <a:srgbClr val="333333"/>
                </a:solidFill>
                <a:latin typeface="Calibri"/>
              </a:defRPr>
            </a:pPr>
            <a:r>
              <a:t>All three models achieved</a:t>
            </a:r>
            <a:br/>
            <a:r>
              <a:t>AUC &gt; 0.987</a:t>
            </a:r>
            <a:br/>
            <a:br/>
            <a:r>
              <a:t>Logistic Regression</a:t>
            </a:r>
            <a:br/>
            <a:r>
              <a:t>and SVM were</a:t>
            </a:r>
            <a:br/>
            <a:r>
              <a:t>not significantly</a:t>
            </a:r>
            <a:br/>
            <a:r>
              <a:t>different (p = 0.568)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Results — Diagnostic Performance (5-Fold CV)</a:t>
            </a:r>
          </a:p>
        </p:txBody>
      </p:sp>
      <p:graphicFrame>
        <p:nvGraphicFramePr>
          <p:cNvPr id="4" name="Table 3"/>
          <p:cNvGraphicFramePr>
            <a:graphicFrameLocks noGrp="1"/>
          </p:cNvGraphicFramePr>
          <p:nvPr/>
        </p:nvGraphicFramePr>
        <p:xfrm>
          <a:off x="274320" y="1371600"/>
          <a:ext cx="12070080" cy="3291840"/>
        </p:xfrm>
        <a:graphic>
          <a:graphicData uri="http://schemas.openxmlformats.org/drawingml/2006/table">
            <a:tbl>
              <a:tblPr firstRow="1" bandRow="1">
                <a:tableStyleId>{5C22544A-7EE6-4342-B048-85BDC9FD1C3A}</a:tableStyleId>
              </a:tblPr>
              <a:tblGrid>
                <a:gridCol w="2011680"/>
                <a:gridCol w="2286000"/>
                <a:gridCol w="1554480"/>
                <a:gridCol w="1554480"/>
                <a:gridCol w="1554480"/>
                <a:gridCol w="1554480"/>
                <a:gridCol w="1554480"/>
              </a:tblGrid>
              <a:tr h="822960">
                <a:tc>
                  <a:txBody>
                    <a:bodyPr/>
                    <a:lstStyle/>
                    <a:p>
                      <a:pPr algn="ctr">
                        <a:defRPr sz="1100" b="1">
                          <a:solidFill>
                            <a:srgbClr val="FFFFFF"/>
                          </a:solidFill>
                          <a:latin typeface="Calibri"/>
                        </a:defRPr>
                      </a:pPr>
                      <a:r>
                        <a:t>Model</a:t>
                      </a:r>
                    </a:p>
                  </a:txBody>
                  <a:tcPr anchor="ctr">
                    <a:solidFill>
                      <a:srgbClr val="1B2A4A"/>
                    </a:solidFill>
                  </a:tcPr>
                </a:tc>
                <a:tc>
                  <a:txBody>
                    <a:bodyPr/>
                    <a:lstStyle/>
                    <a:p>
                      <a:pPr algn="ctr">
                        <a:defRPr sz="1100" b="1">
                          <a:solidFill>
                            <a:srgbClr val="FFFFFF"/>
                          </a:solidFill>
                          <a:latin typeface="Calibri"/>
                        </a:defRPr>
                      </a:pPr>
                      <a:r>
                        <a:t>AUC (95% CI)</a:t>
                      </a:r>
                    </a:p>
                  </a:txBody>
                  <a:tcPr anchor="ctr">
                    <a:solidFill>
                      <a:srgbClr val="1B2A4A"/>
                    </a:solidFill>
                  </a:tcPr>
                </a:tc>
                <a:tc>
                  <a:txBody>
                    <a:bodyPr/>
                    <a:lstStyle/>
                    <a:p>
                      <a:pPr algn="ctr">
                        <a:defRPr sz="1100" b="1">
                          <a:solidFill>
                            <a:srgbClr val="FFFFFF"/>
                          </a:solidFill>
                          <a:latin typeface="Calibri"/>
                        </a:defRPr>
                      </a:pPr>
                      <a:r>
                        <a:t>Sensitivity</a:t>
                      </a:r>
                    </a:p>
                  </a:txBody>
                  <a:tcPr anchor="ctr">
                    <a:solidFill>
                      <a:srgbClr val="1B2A4A"/>
                    </a:solidFill>
                  </a:tcPr>
                </a:tc>
                <a:tc>
                  <a:txBody>
                    <a:bodyPr/>
                    <a:lstStyle/>
                    <a:p>
                      <a:pPr algn="ctr">
                        <a:defRPr sz="1100" b="1">
                          <a:solidFill>
                            <a:srgbClr val="FFFFFF"/>
                          </a:solidFill>
                          <a:latin typeface="Calibri"/>
                        </a:defRPr>
                      </a:pPr>
                      <a:r>
                        <a:t>Specificity</a:t>
                      </a:r>
                    </a:p>
                  </a:txBody>
                  <a:tcPr anchor="ctr">
                    <a:solidFill>
                      <a:srgbClr val="1B2A4A"/>
                    </a:solidFill>
                  </a:tcPr>
                </a:tc>
                <a:tc>
                  <a:txBody>
                    <a:bodyPr/>
                    <a:lstStyle/>
                    <a:p>
                      <a:pPr algn="ctr">
                        <a:defRPr sz="1100" b="1">
                          <a:solidFill>
                            <a:srgbClr val="FFFFFF"/>
                          </a:solidFill>
                          <a:latin typeface="Calibri"/>
                        </a:defRPr>
                      </a:pPr>
                      <a:r>
                        <a:t>PPV</a:t>
                      </a:r>
                    </a:p>
                  </a:txBody>
                  <a:tcPr anchor="ctr">
                    <a:solidFill>
                      <a:srgbClr val="1B2A4A"/>
                    </a:solidFill>
                  </a:tcPr>
                </a:tc>
                <a:tc>
                  <a:txBody>
                    <a:bodyPr/>
                    <a:lstStyle/>
                    <a:p>
                      <a:pPr algn="ctr">
                        <a:defRPr sz="1100" b="1">
                          <a:solidFill>
                            <a:srgbClr val="FFFFFF"/>
                          </a:solidFill>
                          <a:latin typeface="Calibri"/>
                        </a:defRPr>
                      </a:pPr>
                      <a:r>
                        <a:t>NPV</a:t>
                      </a:r>
                    </a:p>
                  </a:txBody>
                  <a:tcPr anchor="ctr">
                    <a:solidFill>
                      <a:srgbClr val="1B2A4A"/>
                    </a:solidFill>
                  </a:tcPr>
                </a:tc>
                <a:tc>
                  <a:txBody>
                    <a:bodyPr/>
                    <a:lstStyle/>
                    <a:p>
                      <a:pPr algn="ctr">
                        <a:defRPr sz="1100" b="1">
                          <a:solidFill>
                            <a:srgbClr val="FFFFFF"/>
                          </a:solidFill>
                          <a:latin typeface="Calibri"/>
                        </a:defRPr>
                      </a:pPr>
                      <a:r>
                        <a:t>Accuracy</a:t>
                      </a:r>
                    </a:p>
                  </a:txBody>
                  <a:tcPr anchor="ctr">
                    <a:solidFill>
                      <a:srgbClr val="1B2A4A"/>
                    </a:solidFill>
                  </a:tcPr>
                </a:tc>
              </a:tr>
              <a:tr h="822960">
                <a:tc>
                  <a:txBody>
                    <a:bodyPr/>
                    <a:lstStyle/>
                    <a:p>
                      <a:pPr algn="l">
                        <a:defRPr sz="1100">
                          <a:solidFill>
                            <a:srgbClr val="333333"/>
                          </a:solidFill>
                          <a:latin typeface="Calibri"/>
                        </a:defRPr>
                      </a:pPr>
                      <a:r>
                        <a:t>Logistic Regression</a:t>
                      </a:r>
                    </a:p>
                  </a:txBody>
                  <a:tcPr anchor="ctr">
                    <a:solidFill>
                      <a:srgbClr val="E8F4FD"/>
                    </a:solidFill>
                  </a:tcPr>
                </a:tc>
                <a:tc>
                  <a:txBody>
                    <a:bodyPr/>
                    <a:lstStyle/>
                    <a:p>
                      <a:pPr algn="ctr">
                        <a:defRPr sz="1100">
                          <a:solidFill>
                            <a:srgbClr val="333333"/>
                          </a:solidFill>
                          <a:latin typeface="Calibri"/>
                        </a:defRPr>
                      </a:pPr>
                      <a:r>
                        <a:t>0.995</a:t>
                      </a:r>
                    </a:p>
                    <a:p>
                      <a:pPr algn="ctr">
                        <a:defRPr sz="1100">
                          <a:solidFill>
                            <a:srgbClr val="333333"/>
                          </a:solidFill>
                          <a:latin typeface="Calibri"/>
                        </a:defRPr>
                      </a:pPr>
                      <a:r>
                        <a:t>(0.990-1.000)</a:t>
                      </a:r>
                    </a:p>
                  </a:txBody>
                  <a:tcPr anchor="ctr">
                    <a:solidFill>
                      <a:srgbClr val="E8F4FD"/>
                    </a:solidFill>
                  </a:tcPr>
                </a:tc>
                <a:tc>
                  <a:txBody>
                    <a:bodyPr/>
                    <a:lstStyle/>
                    <a:p>
                      <a:pPr algn="ctr">
                        <a:defRPr sz="1100">
                          <a:solidFill>
                            <a:srgbClr val="333333"/>
                          </a:solidFill>
                          <a:latin typeface="Calibri"/>
                        </a:defRPr>
                      </a:pPr>
                      <a:r>
                        <a:t>0.943</a:t>
                      </a:r>
                    </a:p>
                    <a:p>
                      <a:pPr algn="ctr">
                        <a:defRPr sz="1100">
                          <a:solidFill>
                            <a:srgbClr val="333333"/>
                          </a:solidFill>
                          <a:latin typeface="Calibri"/>
                        </a:defRPr>
                      </a:pPr>
                      <a:r>
                        <a:t>(0.904-0.967)</a:t>
                      </a:r>
                    </a:p>
                  </a:txBody>
                  <a:tcPr anchor="ctr">
                    <a:solidFill>
                      <a:srgbClr val="E8F4FD"/>
                    </a:solidFill>
                  </a:tcPr>
                </a:tc>
                <a:tc>
                  <a:txBody>
                    <a:bodyPr/>
                    <a:lstStyle/>
                    <a:p>
                      <a:pPr algn="ctr">
                        <a:defRPr sz="1100">
                          <a:solidFill>
                            <a:srgbClr val="333333"/>
                          </a:solidFill>
                          <a:latin typeface="Calibri"/>
                        </a:defRPr>
                      </a:pPr>
                      <a:r>
                        <a:t>0.992</a:t>
                      </a:r>
                    </a:p>
                    <a:p>
                      <a:pPr algn="ctr">
                        <a:defRPr sz="1100">
                          <a:solidFill>
                            <a:srgbClr val="333333"/>
                          </a:solidFill>
                          <a:latin typeface="Calibri"/>
                        </a:defRPr>
                      </a:pPr>
                      <a:r>
                        <a:t>(0.976-0.997)</a:t>
                      </a:r>
                    </a:p>
                  </a:txBody>
                  <a:tcPr anchor="ctr">
                    <a:solidFill>
                      <a:srgbClr val="E8F4FD"/>
                    </a:solidFill>
                  </a:tcPr>
                </a:tc>
                <a:tc>
                  <a:txBody>
                    <a:bodyPr/>
                    <a:lstStyle/>
                    <a:p>
                      <a:pPr algn="ctr">
                        <a:defRPr sz="1100">
                          <a:solidFill>
                            <a:srgbClr val="333333"/>
                          </a:solidFill>
                          <a:latin typeface="Calibri"/>
                        </a:defRPr>
                      </a:pPr>
                      <a:r>
                        <a:t>0.987</a:t>
                      </a:r>
                    </a:p>
                    <a:p>
                      <a:pPr algn="ctr">
                        <a:defRPr sz="1100">
                          <a:solidFill>
                            <a:srgbClr val="333333"/>
                          </a:solidFill>
                          <a:latin typeface="Calibri"/>
                        </a:defRPr>
                      </a:pPr>
                      <a:r>
                        <a:t>(0.965-0.996)</a:t>
                      </a:r>
                    </a:p>
                  </a:txBody>
                  <a:tcPr anchor="ctr">
                    <a:solidFill>
                      <a:srgbClr val="E8F4FD"/>
                    </a:solidFill>
                  </a:tcPr>
                </a:tc>
                <a:tc>
                  <a:txBody>
                    <a:bodyPr/>
                    <a:lstStyle/>
                    <a:p>
                      <a:pPr algn="ctr">
                        <a:defRPr sz="1100">
                          <a:solidFill>
                            <a:srgbClr val="333333"/>
                          </a:solidFill>
                          <a:latin typeface="Calibri"/>
                        </a:defRPr>
                      </a:pPr>
                      <a:r>
                        <a:t>0.967</a:t>
                      </a:r>
                    </a:p>
                    <a:p>
                      <a:pPr algn="ctr">
                        <a:defRPr sz="1100">
                          <a:solidFill>
                            <a:srgbClr val="333333"/>
                          </a:solidFill>
                          <a:latin typeface="Calibri"/>
                        </a:defRPr>
                      </a:pPr>
                      <a:r>
                        <a:t>(0.944-0.981)</a:t>
                      </a:r>
                    </a:p>
                  </a:txBody>
                  <a:tcPr anchor="ctr">
                    <a:solidFill>
                      <a:srgbClr val="E8F4FD"/>
                    </a:solidFill>
                  </a:tcPr>
                </a:tc>
                <a:tc>
                  <a:txBody>
                    <a:bodyPr/>
                    <a:lstStyle/>
                    <a:p>
                      <a:pPr algn="ctr">
                        <a:defRPr sz="1100">
                          <a:solidFill>
                            <a:srgbClr val="333333"/>
                          </a:solidFill>
                          <a:latin typeface="Calibri"/>
                        </a:defRPr>
                      </a:pPr>
                      <a:r>
                        <a:t>0.974</a:t>
                      </a:r>
                    </a:p>
                    <a:p>
                      <a:pPr algn="ctr">
                        <a:defRPr sz="1100">
                          <a:solidFill>
                            <a:srgbClr val="333333"/>
                          </a:solidFill>
                          <a:latin typeface="Calibri"/>
                        </a:defRPr>
                      </a:pPr>
                      <a:r>
                        <a:t>(0.957-0.984)</a:t>
                      </a:r>
                    </a:p>
                  </a:txBody>
                  <a:tcPr anchor="ctr">
                    <a:solidFill>
                      <a:srgbClr val="E8F4FD"/>
                    </a:solidFill>
                  </a:tcPr>
                </a:tc>
              </a:tr>
              <a:tr h="822960">
                <a:tc>
                  <a:txBody>
                    <a:bodyPr/>
                    <a:lstStyle/>
                    <a:p>
                      <a:pPr algn="l">
                        <a:defRPr sz="1100">
                          <a:solidFill>
                            <a:srgbClr val="333333"/>
                          </a:solidFill>
                          <a:latin typeface="Calibri"/>
                        </a:defRPr>
                      </a:pPr>
                      <a:r>
                        <a:t>Random Forest</a:t>
                      </a:r>
                    </a:p>
                  </a:txBody>
                  <a:tcPr anchor="ctr">
                    <a:solidFill>
                      <a:srgbClr val="FFFFFF"/>
                    </a:solidFill>
                  </a:tcPr>
                </a:tc>
                <a:tc>
                  <a:txBody>
                    <a:bodyPr/>
                    <a:lstStyle/>
                    <a:p>
                      <a:pPr algn="ctr">
                        <a:defRPr sz="1100">
                          <a:solidFill>
                            <a:srgbClr val="333333"/>
                          </a:solidFill>
                          <a:latin typeface="Calibri"/>
                        </a:defRPr>
                      </a:pPr>
                      <a:r>
                        <a:t>0.987</a:t>
                      </a:r>
                    </a:p>
                    <a:p>
                      <a:pPr algn="ctr">
                        <a:defRPr sz="1100">
                          <a:solidFill>
                            <a:srgbClr val="333333"/>
                          </a:solidFill>
                          <a:latin typeface="Calibri"/>
                        </a:defRPr>
                      </a:pPr>
                      <a:r>
                        <a:t>(0.976-0.998)</a:t>
                      </a:r>
                    </a:p>
                  </a:txBody>
                  <a:tcPr anchor="ctr">
                    <a:solidFill>
                      <a:srgbClr val="FFFFFF"/>
                    </a:solidFill>
                  </a:tcPr>
                </a:tc>
                <a:tc>
                  <a:txBody>
                    <a:bodyPr/>
                    <a:lstStyle/>
                    <a:p>
                      <a:pPr algn="ctr">
                        <a:defRPr sz="1100">
                          <a:solidFill>
                            <a:srgbClr val="333333"/>
                          </a:solidFill>
                          <a:latin typeface="Calibri"/>
                        </a:defRPr>
                      </a:pPr>
                      <a:r>
                        <a:t>0.934</a:t>
                      </a:r>
                    </a:p>
                    <a:p>
                      <a:pPr algn="ctr">
                        <a:defRPr sz="1100">
                          <a:solidFill>
                            <a:srgbClr val="333333"/>
                          </a:solidFill>
                          <a:latin typeface="Calibri"/>
                        </a:defRPr>
                      </a:pPr>
                      <a:r>
                        <a:t>(0.892-0.960)</a:t>
                      </a:r>
                    </a:p>
                  </a:txBody>
                  <a:tcPr anchor="ctr">
                    <a:solidFill>
                      <a:srgbClr val="FFFFFF"/>
                    </a:solidFill>
                  </a:tcPr>
                </a:tc>
                <a:tc>
                  <a:txBody>
                    <a:bodyPr/>
                    <a:lstStyle/>
                    <a:p>
                      <a:pPr algn="ctr">
                        <a:defRPr sz="1100">
                          <a:solidFill>
                            <a:srgbClr val="333333"/>
                          </a:solidFill>
                          <a:latin typeface="Calibri"/>
                        </a:defRPr>
                      </a:pPr>
                      <a:r>
                        <a:t>0.966</a:t>
                      </a:r>
                    </a:p>
                    <a:p>
                      <a:pPr algn="ctr">
                        <a:defRPr sz="1100">
                          <a:solidFill>
                            <a:srgbClr val="333333"/>
                          </a:solidFill>
                          <a:latin typeface="Calibri"/>
                        </a:defRPr>
                      </a:pPr>
                      <a:r>
                        <a:t>(0.942-0.981)</a:t>
                      </a:r>
                    </a:p>
                  </a:txBody>
                  <a:tcPr anchor="ctr">
                    <a:solidFill>
                      <a:srgbClr val="FFFFFF"/>
                    </a:solidFill>
                  </a:tcPr>
                </a:tc>
                <a:tc>
                  <a:txBody>
                    <a:bodyPr/>
                    <a:lstStyle/>
                    <a:p>
                      <a:pPr algn="ctr">
                        <a:defRPr sz="1100">
                          <a:solidFill>
                            <a:srgbClr val="333333"/>
                          </a:solidFill>
                          <a:latin typeface="Calibri"/>
                        </a:defRPr>
                      </a:pPr>
                      <a:r>
                        <a:t>0.943</a:t>
                      </a:r>
                    </a:p>
                    <a:p>
                      <a:pPr algn="ctr">
                        <a:defRPr sz="1100">
                          <a:solidFill>
                            <a:srgbClr val="333333"/>
                          </a:solidFill>
                          <a:latin typeface="Calibri"/>
                        </a:defRPr>
                      </a:pPr>
                      <a:r>
                        <a:t>(0.902-0.967)</a:t>
                      </a:r>
                    </a:p>
                  </a:txBody>
                  <a:tcPr anchor="ctr">
                    <a:solidFill>
                      <a:srgbClr val="FFFFFF"/>
                    </a:solidFill>
                  </a:tcPr>
                </a:tc>
                <a:tc>
                  <a:txBody>
                    <a:bodyPr/>
                    <a:lstStyle/>
                    <a:p>
                      <a:pPr algn="ctr">
                        <a:defRPr sz="1100">
                          <a:solidFill>
                            <a:srgbClr val="333333"/>
                          </a:solidFill>
                          <a:latin typeface="Calibri"/>
                        </a:defRPr>
                      </a:pPr>
                      <a:r>
                        <a:t>0.961</a:t>
                      </a:r>
                    </a:p>
                    <a:p>
                      <a:pPr algn="ctr">
                        <a:defRPr sz="1100">
                          <a:solidFill>
                            <a:srgbClr val="333333"/>
                          </a:solidFill>
                          <a:latin typeface="Calibri"/>
                        </a:defRPr>
                      </a:pPr>
                      <a:r>
                        <a:t>(0.937-0.977)</a:t>
                      </a:r>
                    </a:p>
                  </a:txBody>
                  <a:tcPr anchor="ctr">
                    <a:solidFill>
                      <a:srgbClr val="FFFFFF"/>
                    </a:solidFill>
                  </a:tcPr>
                </a:tc>
                <a:tc>
                  <a:txBody>
                    <a:bodyPr/>
                    <a:lstStyle/>
                    <a:p>
                      <a:pPr algn="ctr">
                        <a:defRPr sz="1100">
                          <a:solidFill>
                            <a:srgbClr val="333333"/>
                          </a:solidFill>
                          <a:latin typeface="Calibri"/>
                        </a:defRPr>
                      </a:pPr>
                      <a:r>
                        <a:t>0.954</a:t>
                      </a:r>
                    </a:p>
                    <a:p>
                      <a:pPr algn="ctr">
                        <a:defRPr sz="1100">
                          <a:solidFill>
                            <a:srgbClr val="333333"/>
                          </a:solidFill>
                          <a:latin typeface="Calibri"/>
                        </a:defRPr>
                      </a:pPr>
                      <a:r>
                        <a:t>(0.934-0.969)</a:t>
                      </a:r>
                    </a:p>
                  </a:txBody>
                  <a:tcPr anchor="ctr">
                    <a:solidFill>
                      <a:srgbClr val="FFFFFF"/>
                    </a:solidFill>
                  </a:tcPr>
                </a:tc>
              </a:tr>
              <a:tr h="822960">
                <a:tc>
                  <a:txBody>
                    <a:bodyPr/>
                    <a:lstStyle/>
                    <a:p>
                      <a:pPr algn="l">
                        <a:defRPr sz="1100">
                          <a:solidFill>
                            <a:srgbClr val="333333"/>
                          </a:solidFill>
                          <a:latin typeface="Calibri"/>
                        </a:defRPr>
                      </a:pPr>
                      <a:r>
                        <a:t>SVM (RBF)</a:t>
                      </a:r>
                    </a:p>
                  </a:txBody>
                  <a:tcPr anchor="ctr">
                    <a:solidFill>
                      <a:srgbClr val="F5F5F5"/>
                    </a:solidFill>
                  </a:tcPr>
                </a:tc>
                <a:tc>
                  <a:txBody>
                    <a:bodyPr/>
                    <a:lstStyle/>
                    <a:p>
                      <a:pPr algn="ctr">
                        <a:defRPr sz="1100">
                          <a:solidFill>
                            <a:srgbClr val="333333"/>
                          </a:solidFill>
                          <a:latin typeface="Calibri"/>
                        </a:defRPr>
                      </a:pPr>
                      <a:r>
                        <a:t>0.994</a:t>
                      </a:r>
                    </a:p>
                    <a:p>
                      <a:pPr algn="ctr">
                        <a:defRPr sz="1100">
                          <a:solidFill>
                            <a:srgbClr val="333333"/>
                          </a:solidFill>
                          <a:latin typeface="Calibri"/>
                        </a:defRPr>
                      </a:pPr>
                      <a:r>
                        <a:t>(0.989-0.999)</a:t>
                      </a:r>
                    </a:p>
                  </a:txBody>
                  <a:tcPr anchor="ctr">
                    <a:solidFill>
                      <a:srgbClr val="F5F5F5"/>
                    </a:solidFill>
                  </a:tcPr>
                </a:tc>
                <a:tc>
                  <a:txBody>
                    <a:bodyPr/>
                    <a:lstStyle/>
                    <a:p>
                      <a:pPr algn="ctr">
                        <a:defRPr sz="1100">
                          <a:solidFill>
                            <a:srgbClr val="333333"/>
                          </a:solidFill>
                          <a:latin typeface="Calibri"/>
                        </a:defRPr>
                      </a:pPr>
                      <a:r>
                        <a:t>0.958</a:t>
                      </a:r>
                    </a:p>
                    <a:p>
                      <a:pPr algn="ctr">
                        <a:defRPr sz="1100">
                          <a:solidFill>
                            <a:srgbClr val="333333"/>
                          </a:solidFill>
                          <a:latin typeface="Calibri"/>
                        </a:defRPr>
                      </a:pPr>
                      <a:r>
                        <a:t>(0.921-0.978)</a:t>
                      </a:r>
                    </a:p>
                  </a:txBody>
                  <a:tcPr anchor="ctr">
                    <a:solidFill>
                      <a:srgbClr val="F5F5F5"/>
                    </a:solidFill>
                  </a:tcPr>
                </a:tc>
                <a:tc>
                  <a:txBody>
                    <a:bodyPr/>
                    <a:lstStyle/>
                    <a:p>
                      <a:pPr algn="ctr">
                        <a:defRPr sz="1100">
                          <a:solidFill>
                            <a:srgbClr val="333333"/>
                          </a:solidFill>
                          <a:latin typeface="Calibri"/>
                        </a:defRPr>
                      </a:pPr>
                      <a:r>
                        <a:t>0.989</a:t>
                      </a:r>
                    </a:p>
                    <a:p>
                      <a:pPr algn="ctr">
                        <a:defRPr sz="1100">
                          <a:solidFill>
                            <a:srgbClr val="333333"/>
                          </a:solidFill>
                          <a:latin typeface="Calibri"/>
                        </a:defRPr>
                      </a:pPr>
                      <a:r>
                        <a:t>(0.972-0.996)</a:t>
                      </a:r>
                    </a:p>
                  </a:txBody>
                  <a:tcPr anchor="ctr">
                    <a:solidFill>
                      <a:srgbClr val="F5F5F5"/>
                    </a:solidFill>
                  </a:tcPr>
                </a:tc>
                <a:tc>
                  <a:txBody>
                    <a:bodyPr/>
                    <a:lstStyle/>
                    <a:p>
                      <a:pPr algn="ctr">
                        <a:defRPr sz="1100">
                          <a:solidFill>
                            <a:srgbClr val="333333"/>
                          </a:solidFill>
                          <a:latin typeface="Calibri"/>
                        </a:defRPr>
                      </a:pPr>
                      <a:r>
                        <a:t>0.981</a:t>
                      </a:r>
                    </a:p>
                    <a:p>
                      <a:pPr algn="ctr">
                        <a:defRPr sz="1100">
                          <a:solidFill>
                            <a:srgbClr val="333333"/>
                          </a:solidFill>
                          <a:latin typeface="Calibri"/>
                        </a:defRPr>
                      </a:pPr>
                      <a:r>
                        <a:t>(0.952-0.994)</a:t>
                      </a:r>
                    </a:p>
                  </a:txBody>
                  <a:tcPr anchor="ctr">
                    <a:solidFill>
                      <a:srgbClr val="F5F5F5"/>
                    </a:solidFill>
                  </a:tcPr>
                </a:tc>
                <a:tc>
                  <a:txBody>
                    <a:bodyPr/>
                    <a:lstStyle/>
                    <a:p>
                      <a:pPr algn="ctr">
                        <a:defRPr sz="1100">
                          <a:solidFill>
                            <a:srgbClr val="333333"/>
                          </a:solidFill>
                          <a:latin typeface="Calibri"/>
                        </a:defRPr>
                      </a:pPr>
                      <a:r>
                        <a:t>0.975</a:t>
                      </a:r>
                    </a:p>
                    <a:p>
                      <a:pPr algn="ctr">
                        <a:defRPr sz="1100">
                          <a:solidFill>
                            <a:srgbClr val="333333"/>
                          </a:solidFill>
                          <a:latin typeface="Calibri"/>
                        </a:defRPr>
                      </a:pPr>
                      <a:r>
                        <a:t>(0.955-0.988)</a:t>
                      </a:r>
                    </a:p>
                  </a:txBody>
                  <a:tcPr anchor="ctr">
                    <a:solidFill>
                      <a:srgbClr val="F5F5F5"/>
                    </a:solidFill>
                  </a:tcPr>
                </a:tc>
                <a:tc>
                  <a:txBody>
                    <a:bodyPr/>
                    <a:lstStyle/>
                    <a:p>
                      <a:pPr algn="ctr">
                        <a:defRPr sz="1100">
                          <a:solidFill>
                            <a:srgbClr val="333333"/>
                          </a:solidFill>
                          <a:latin typeface="Calibri"/>
                        </a:defRPr>
                      </a:pPr>
                      <a:r>
                        <a:t>0.977</a:t>
                      </a:r>
                    </a:p>
                    <a:p>
                      <a:pPr algn="ctr">
                        <a:defRPr sz="1100">
                          <a:solidFill>
                            <a:srgbClr val="333333"/>
                          </a:solidFill>
                          <a:latin typeface="Calibri"/>
                        </a:defRPr>
                      </a:pPr>
                      <a:r>
                        <a:t>(0.961-0.987)</a:t>
                      </a:r>
                    </a:p>
                  </a:txBody>
                  <a:tcPr anchor="ctr">
                    <a:solidFill>
                      <a:srgbClr val="F5F5F5"/>
                    </a:solidFill>
                  </a:tcPr>
                </a:tc>
              </a:tr>
            </a:tbl>
          </a:graphicData>
        </a:graphic>
      </p:graphicFrame>
      <p:sp>
        <p:nvSpPr>
          <p:cNvPr id="5" name="Rectangle 4"/>
          <p:cNvSpPr/>
          <p:nvPr/>
        </p:nvSpPr>
        <p:spPr>
          <a:xfrm>
            <a:off x="457200" y="4937760"/>
            <a:ext cx="11247120" cy="1371600"/>
          </a:xfrm>
          <a:prstGeom prst="rect">
            <a:avLst/>
          </a:prstGeom>
          <a:solidFill>
            <a:srgbClr val="FEF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29200"/>
            <a:ext cx="10972800" cy="365760"/>
          </a:xfrm>
          <a:prstGeom prst="rect">
            <a:avLst/>
          </a:prstGeom>
          <a:noFill/>
        </p:spPr>
        <p:txBody>
          <a:bodyPr wrap="square">
            <a:spAutoFit/>
          </a:bodyPr>
          <a:lstStyle/>
          <a:p>
            <a:pPr algn="l">
              <a:defRPr sz="1400" b="1">
                <a:solidFill>
                  <a:srgbClr val="D55E00"/>
                </a:solidFill>
                <a:latin typeface="Calibri"/>
              </a:defRPr>
            </a:pPr>
            <a:r>
              <a:t>DeLong Pairwise AUC Comparison</a:t>
            </a:r>
          </a:p>
        </p:txBody>
      </p:sp>
      <p:sp>
        <p:nvSpPr>
          <p:cNvPr id="7" name="TextBox 6"/>
          <p:cNvSpPr txBox="1"/>
          <p:nvPr/>
        </p:nvSpPr>
        <p:spPr>
          <a:xfrm>
            <a:off x="640080" y="5440680"/>
            <a:ext cx="10972800" cy="731520"/>
          </a:xfrm>
          <a:prstGeom prst="rect">
            <a:avLst/>
          </a:prstGeom>
          <a:noFill/>
        </p:spPr>
        <p:txBody>
          <a:bodyPr wrap="square">
            <a:spAutoFit/>
          </a:bodyPr>
          <a:lstStyle/>
          <a:p>
            <a:pPr algn="l">
              <a:defRPr sz="1300" b="0">
                <a:solidFill>
                  <a:srgbClr val="333333"/>
                </a:solidFill>
                <a:latin typeface="Calibri"/>
              </a:defRPr>
            </a:pPr>
            <a:r>
              <a:t>LR vs RF: z = 1.964, p = 0.050  |  LR vs SVM: z = 0.570, p = 0.568  |  RF vs SVM: z = -2.028, p = 0.043*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Discussion</a:t>
            </a:r>
          </a:p>
        </p:txBody>
      </p:sp>
      <p:sp>
        <p:nvSpPr>
          <p:cNvPr id="4" name="TextBox 3"/>
          <p:cNvSpPr txBox="1"/>
          <p:nvPr/>
        </p:nvSpPr>
        <p:spPr>
          <a:xfrm>
            <a:off x="731520" y="1371600"/>
            <a:ext cx="5029200" cy="457200"/>
          </a:xfrm>
          <a:prstGeom prst="rect">
            <a:avLst/>
          </a:prstGeom>
          <a:noFill/>
        </p:spPr>
        <p:txBody>
          <a:bodyPr wrap="square">
            <a:spAutoFit/>
          </a:bodyPr>
          <a:lstStyle/>
          <a:p>
            <a:pPr algn="l">
              <a:defRPr sz="2000" b="1">
                <a:solidFill>
                  <a:srgbClr val="0072B2"/>
                </a:solidFill>
                <a:latin typeface="Calibri"/>
              </a:defRPr>
            </a:pPr>
            <a:r>
              <a:t>Key Takeaways</a:t>
            </a:r>
          </a:p>
        </p:txBody>
      </p:sp>
      <p:sp>
        <p:nvSpPr>
          <p:cNvPr id="5" name="TextBox 4"/>
          <p:cNvSpPr txBox="1"/>
          <p:nvPr/>
        </p:nvSpPr>
        <p:spPr>
          <a:xfrm>
            <a:off x="731520" y="1920240"/>
            <a:ext cx="5029200" cy="3657600"/>
          </a:xfrm>
          <a:prstGeom prst="rect">
            <a:avLst/>
          </a:prstGeom>
          <a:noFill/>
        </p:spPr>
        <p:txBody>
          <a:bodyPr wrap="square">
            <a:spAutoFit/>
          </a:bodyPr>
          <a:lstStyle/>
          <a:p>
            <a:pPr>
              <a:spcAft>
                <a:spcPts val="800"/>
              </a:spcAft>
              <a:defRPr sz="1600">
                <a:solidFill>
                  <a:srgbClr val="333333"/>
                </a:solidFill>
                <a:latin typeface="Calibri"/>
              </a:defRPr>
            </a:pPr>
            <a:r>
              <a:t>Simpler models (LR) matched complex ones (SVM) — interpretability advantage</a:t>
            </a:r>
          </a:p>
          <a:p>
            <a:pPr>
              <a:spcAft>
                <a:spcPts val="800"/>
              </a:spcAft>
              <a:defRPr sz="1600">
                <a:solidFill>
                  <a:srgbClr val="333333"/>
                </a:solidFill>
                <a:latin typeface="Calibri"/>
              </a:defRPr>
            </a:pPr>
            <a:r>
              <a:t>RF significantly inferior to SVM despite AUC &gt; 0.98 — DeLong test matters</a:t>
            </a:r>
          </a:p>
          <a:p>
            <a:pPr>
              <a:spcAft>
                <a:spcPts val="800"/>
              </a:spcAft>
              <a:defRPr sz="1600">
                <a:solidFill>
                  <a:srgbClr val="333333"/>
                </a:solidFill>
                <a:latin typeface="Calibri"/>
              </a:defRPr>
            </a:pPr>
            <a:r>
              <a:t>Point estimates alone would have missed this difference</a:t>
            </a:r>
          </a:p>
          <a:p>
            <a:pPr>
              <a:spcAft>
                <a:spcPts val="800"/>
              </a:spcAft>
              <a:defRPr sz="1600">
                <a:solidFill>
                  <a:srgbClr val="333333"/>
                </a:solidFill>
                <a:latin typeface="Calibri"/>
              </a:defRPr>
            </a:pPr>
            <a:r>
              <a:t>Consistent with Wolberg &amp; Mangasarian (1990): 97.5% accuracy with linear methods</a:t>
            </a:r>
          </a:p>
        </p:txBody>
      </p:sp>
      <p:sp>
        <p:nvSpPr>
          <p:cNvPr id="6" name="TextBox 5"/>
          <p:cNvSpPr txBox="1"/>
          <p:nvPr/>
        </p:nvSpPr>
        <p:spPr>
          <a:xfrm>
            <a:off x="6400800" y="1371600"/>
            <a:ext cx="5029200" cy="457200"/>
          </a:xfrm>
          <a:prstGeom prst="rect">
            <a:avLst/>
          </a:prstGeom>
          <a:noFill/>
        </p:spPr>
        <p:txBody>
          <a:bodyPr wrap="square">
            <a:spAutoFit/>
          </a:bodyPr>
          <a:lstStyle/>
          <a:p>
            <a:pPr algn="l">
              <a:defRPr sz="2000" b="1">
                <a:solidFill>
                  <a:srgbClr val="D55E00"/>
                </a:solidFill>
                <a:latin typeface="Calibri"/>
              </a:defRPr>
            </a:pPr>
            <a:r>
              <a:t>Limitations</a:t>
            </a:r>
          </a:p>
        </p:txBody>
      </p:sp>
      <p:sp>
        <p:nvSpPr>
          <p:cNvPr id="7" name="TextBox 6"/>
          <p:cNvSpPr txBox="1"/>
          <p:nvPr/>
        </p:nvSpPr>
        <p:spPr>
          <a:xfrm>
            <a:off x="6400800" y="1920240"/>
            <a:ext cx="5029200" cy="3657600"/>
          </a:xfrm>
          <a:prstGeom prst="rect">
            <a:avLst/>
          </a:prstGeom>
          <a:noFill/>
        </p:spPr>
        <p:txBody>
          <a:bodyPr wrap="square">
            <a:spAutoFit/>
          </a:bodyPr>
          <a:lstStyle/>
          <a:p>
            <a:pPr>
              <a:spcAft>
                <a:spcPts val="800"/>
              </a:spcAft>
              <a:defRPr sz="1600">
                <a:solidFill>
                  <a:srgbClr val="333333"/>
                </a:solidFill>
                <a:latin typeface="Calibri"/>
              </a:defRPr>
            </a:pPr>
            <a:r>
              <a:t>Curated benchmark, not prospective clinical cohort</a:t>
            </a:r>
          </a:p>
          <a:p>
            <a:pPr>
              <a:spcAft>
                <a:spcPts val="800"/>
              </a:spcAft>
              <a:defRPr sz="1600">
                <a:solidFill>
                  <a:srgbClr val="333333"/>
                </a:solidFill>
                <a:latin typeface="Calibri"/>
              </a:defRPr>
            </a:pPr>
            <a:r>
              <a:t>Pre-computed features — abstracts away real-world image variability</a:t>
            </a:r>
          </a:p>
          <a:p>
            <a:pPr>
              <a:spcAft>
                <a:spcPts val="800"/>
              </a:spcAft>
              <a:defRPr sz="1600">
                <a:solidFill>
                  <a:srgbClr val="333333"/>
                </a:solidFill>
                <a:latin typeface="Calibri"/>
              </a:defRPr>
            </a:pPr>
            <a:r>
              <a:t>Synthetic age variable (for demo purposes)</a:t>
            </a:r>
          </a:p>
          <a:p>
            <a:pPr>
              <a:spcAft>
                <a:spcPts val="800"/>
              </a:spcAft>
              <a:defRPr sz="1600">
                <a:solidFill>
                  <a:srgbClr val="333333"/>
                </a:solidFill>
                <a:latin typeface="Calibri"/>
              </a:defRPr>
            </a:pPr>
            <a:r>
              <a:t>No hyperparameter tuning performed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STARD 2015 Compliance Audit</a:t>
            </a:r>
          </a:p>
        </p:txBody>
      </p:sp>
      <p:sp>
        <p:nvSpPr>
          <p:cNvPr id="4" name="Rectangle 3"/>
          <p:cNvSpPr/>
          <p:nvPr/>
        </p:nvSpPr>
        <p:spPr>
          <a:xfrm>
            <a:off x="914400" y="1371600"/>
            <a:ext cx="2926080" cy="1828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463040"/>
            <a:ext cx="2560320" cy="457200"/>
          </a:xfrm>
          <a:prstGeom prst="rect">
            <a:avLst/>
          </a:prstGeom>
          <a:noFill/>
        </p:spPr>
        <p:txBody>
          <a:bodyPr wrap="square">
            <a:spAutoFit/>
          </a:bodyPr>
          <a:lstStyle/>
          <a:p>
            <a:pPr algn="ctr">
              <a:defRPr sz="1600" b="1">
                <a:solidFill>
                  <a:srgbClr val="009E73"/>
                </a:solidFill>
                <a:latin typeface="Calibri"/>
              </a:defRPr>
            </a:pPr>
            <a:r>
              <a:t>PRESENT</a:t>
            </a:r>
          </a:p>
        </p:txBody>
      </p:sp>
      <p:sp>
        <p:nvSpPr>
          <p:cNvPr id="6" name="TextBox 5"/>
          <p:cNvSpPr txBox="1"/>
          <p:nvPr/>
        </p:nvSpPr>
        <p:spPr>
          <a:xfrm>
            <a:off x="1097280" y="1920240"/>
            <a:ext cx="2560320" cy="731520"/>
          </a:xfrm>
          <a:prstGeom prst="rect">
            <a:avLst/>
          </a:prstGeom>
          <a:noFill/>
        </p:spPr>
        <p:txBody>
          <a:bodyPr wrap="square">
            <a:spAutoFit/>
          </a:bodyPr>
          <a:lstStyle/>
          <a:p>
            <a:pPr algn="ctr">
              <a:defRPr sz="4800" b="1">
                <a:solidFill>
                  <a:srgbClr val="009E73"/>
                </a:solidFill>
                <a:latin typeface="Calibri"/>
              </a:defRPr>
            </a:pPr>
            <a:r>
              <a:t>19</a:t>
            </a:r>
          </a:p>
        </p:txBody>
      </p:sp>
      <p:sp>
        <p:nvSpPr>
          <p:cNvPr id="7" name="TextBox 6"/>
          <p:cNvSpPr txBox="1"/>
          <p:nvPr/>
        </p:nvSpPr>
        <p:spPr>
          <a:xfrm>
            <a:off x="1097280" y="2651760"/>
            <a:ext cx="2560320" cy="365760"/>
          </a:xfrm>
          <a:prstGeom prst="rect">
            <a:avLst/>
          </a:prstGeom>
          <a:noFill/>
        </p:spPr>
        <p:txBody>
          <a:bodyPr wrap="square">
            <a:spAutoFit/>
          </a:bodyPr>
          <a:lstStyle/>
          <a:p>
            <a:pPr algn="ctr">
              <a:defRPr sz="1200" b="0">
                <a:solidFill>
                  <a:srgbClr val="666666"/>
                </a:solidFill>
                <a:latin typeface="Calibri"/>
              </a:defRPr>
            </a:pPr>
            <a:r>
              <a:t>of 30 items (63%)</a:t>
            </a:r>
          </a:p>
        </p:txBody>
      </p:sp>
      <p:sp>
        <p:nvSpPr>
          <p:cNvPr id="8" name="Rectangle 7"/>
          <p:cNvSpPr/>
          <p:nvPr/>
        </p:nvSpPr>
        <p:spPr>
          <a:xfrm>
            <a:off x="4389120" y="1371600"/>
            <a:ext cx="2926080" cy="1828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463040"/>
            <a:ext cx="2560320" cy="457200"/>
          </a:xfrm>
          <a:prstGeom prst="rect">
            <a:avLst/>
          </a:prstGeom>
          <a:noFill/>
        </p:spPr>
        <p:txBody>
          <a:bodyPr wrap="square">
            <a:spAutoFit/>
          </a:bodyPr>
          <a:lstStyle/>
          <a:p>
            <a:pPr algn="ctr">
              <a:defRPr sz="1600" b="1">
                <a:solidFill>
                  <a:srgbClr val="D55E00"/>
                </a:solidFill>
                <a:latin typeface="Calibri"/>
              </a:defRPr>
            </a:pPr>
            <a:r>
              <a:t>PARTIAL</a:t>
            </a:r>
          </a:p>
        </p:txBody>
      </p:sp>
      <p:sp>
        <p:nvSpPr>
          <p:cNvPr id="10" name="TextBox 9"/>
          <p:cNvSpPr txBox="1"/>
          <p:nvPr/>
        </p:nvSpPr>
        <p:spPr>
          <a:xfrm>
            <a:off x="4572000" y="1920240"/>
            <a:ext cx="2560320" cy="731520"/>
          </a:xfrm>
          <a:prstGeom prst="rect">
            <a:avLst/>
          </a:prstGeom>
          <a:noFill/>
        </p:spPr>
        <p:txBody>
          <a:bodyPr wrap="square">
            <a:spAutoFit/>
          </a:bodyPr>
          <a:lstStyle/>
          <a:p>
            <a:pPr algn="ctr">
              <a:defRPr sz="4800" b="1">
                <a:solidFill>
                  <a:srgbClr val="D55E00"/>
                </a:solidFill>
                <a:latin typeface="Calibri"/>
              </a:defRPr>
            </a:pPr>
            <a:r>
              <a:t>5</a:t>
            </a:r>
          </a:p>
        </p:txBody>
      </p:sp>
      <p:sp>
        <p:nvSpPr>
          <p:cNvPr id="11" name="TextBox 10"/>
          <p:cNvSpPr txBox="1"/>
          <p:nvPr/>
        </p:nvSpPr>
        <p:spPr>
          <a:xfrm>
            <a:off x="4572000" y="2651760"/>
            <a:ext cx="2560320" cy="365760"/>
          </a:xfrm>
          <a:prstGeom prst="rect">
            <a:avLst/>
          </a:prstGeom>
          <a:noFill/>
        </p:spPr>
        <p:txBody>
          <a:bodyPr wrap="square">
            <a:spAutoFit/>
          </a:bodyPr>
          <a:lstStyle/>
          <a:p>
            <a:pPr algn="ctr">
              <a:defRPr sz="1200" b="0">
                <a:solidFill>
                  <a:srgbClr val="666666"/>
                </a:solidFill>
                <a:latin typeface="Calibri"/>
              </a:defRPr>
            </a:pPr>
            <a:r>
              <a:t>of 30 items (17%)</a:t>
            </a:r>
          </a:p>
        </p:txBody>
      </p:sp>
      <p:sp>
        <p:nvSpPr>
          <p:cNvPr id="12" name="Rectangle 11"/>
          <p:cNvSpPr/>
          <p:nvPr/>
        </p:nvSpPr>
        <p:spPr>
          <a:xfrm>
            <a:off x="7863840" y="1371600"/>
            <a:ext cx="2926080" cy="182880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0" y="1463040"/>
            <a:ext cx="2560320" cy="457200"/>
          </a:xfrm>
          <a:prstGeom prst="rect">
            <a:avLst/>
          </a:prstGeom>
          <a:noFill/>
        </p:spPr>
        <p:txBody>
          <a:bodyPr wrap="square">
            <a:spAutoFit/>
          </a:bodyPr>
          <a:lstStyle/>
          <a:p>
            <a:pPr algn="ctr">
              <a:defRPr sz="1600" b="1">
                <a:solidFill>
                  <a:srgbClr val="CC3333"/>
                </a:solidFill>
                <a:latin typeface="Calibri"/>
              </a:defRPr>
            </a:pPr>
            <a:r>
              <a:t>MISSING</a:t>
            </a:r>
          </a:p>
        </p:txBody>
      </p:sp>
      <p:sp>
        <p:nvSpPr>
          <p:cNvPr id="14" name="TextBox 13"/>
          <p:cNvSpPr txBox="1"/>
          <p:nvPr/>
        </p:nvSpPr>
        <p:spPr>
          <a:xfrm>
            <a:off x="8046720" y="1920240"/>
            <a:ext cx="2560320" cy="731520"/>
          </a:xfrm>
          <a:prstGeom prst="rect">
            <a:avLst/>
          </a:prstGeom>
          <a:noFill/>
        </p:spPr>
        <p:txBody>
          <a:bodyPr wrap="square">
            <a:spAutoFit/>
          </a:bodyPr>
          <a:lstStyle/>
          <a:p>
            <a:pPr algn="ctr">
              <a:defRPr sz="4800" b="1">
                <a:solidFill>
                  <a:srgbClr val="CC3333"/>
                </a:solidFill>
                <a:latin typeface="Calibri"/>
              </a:defRPr>
            </a:pPr>
            <a:r>
              <a:t>6</a:t>
            </a:r>
          </a:p>
        </p:txBody>
      </p:sp>
      <p:sp>
        <p:nvSpPr>
          <p:cNvPr id="15" name="TextBox 14"/>
          <p:cNvSpPr txBox="1"/>
          <p:nvPr/>
        </p:nvSpPr>
        <p:spPr>
          <a:xfrm>
            <a:off x="8046720" y="2651760"/>
            <a:ext cx="2560320" cy="365760"/>
          </a:xfrm>
          <a:prstGeom prst="rect">
            <a:avLst/>
          </a:prstGeom>
          <a:noFill/>
        </p:spPr>
        <p:txBody>
          <a:bodyPr wrap="square">
            <a:spAutoFit/>
          </a:bodyPr>
          <a:lstStyle/>
          <a:p>
            <a:pPr algn="ctr">
              <a:defRPr sz="1200" b="0">
                <a:solidFill>
                  <a:srgbClr val="666666"/>
                </a:solidFill>
                <a:latin typeface="Calibri"/>
              </a:defRPr>
            </a:pPr>
            <a:r>
              <a:t>of 30 items (20%)</a:t>
            </a:r>
          </a:p>
        </p:txBody>
      </p:sp>
      <p:sp>
        <p:nvSpPr>
          <p:cNvPr id="16" name="TextBox 15"/>
          <p:cNvSpPr txBox="1"/>
          <p:nvPr/>
        </p:nvSpPr>
        <p:spPr>
          <a:xfrm>
            <a:off x="731520" y="3657600"/>
            <a:ext cx="10515600" cy="457200"/>
          </a:xfrm>
          <a:prstGeom prst="rect">
            <a:avLst/>
          </a:prstGeom>
          <a:noFill/>
        </p:spPr>
        <p:txBody>
          <a:bodyPr wrap="square">
            <a:spAutoFit/>
          </a:bodyPr>
          <a:lstStyle/>
          <a:p>
            <a:pPr algn="l">
              <a:defRPr sz="1600" b="1">
                <a:solidFill>
                  <a:srgbClr val="333333"/>
                </a:solidFill>
                <a:latin typeface="Calibri"/>
              </a:defRPr>
            </a:pPr>
            <a:r>
              <a:t>Auto-detected Missing Items with Fix Recommendations:</a:t>
            </a:r>
          </a:p>
        </p:txBody>
      </p:sp>
      <p:sp>
        <p:nvSpPr>
          <p:cNvPr id="17" name="TextBox 16"/>
          <p:cNvSpPr txBox="1"/>
          <p:nvPr/>
        </p:nvSpPr>
        <p:spPr>
          <a:xfrm>
            <a:off x="731520" y="4114800"/>
            <a:ext cx="10515600" cy="2286000"/>
          </a:xfrm>
          <a:prstGeom prst="rect">
            <a:avLst/>
          </a:prstGeom>
          <a:noFill/>
        </p:spPr>
        <p:txBody>
          <a:bodyPr wrap="square">
            <a:spAutoFit/>
          </a:bodyPr>
          <a:lstStyle/>
          <a:p>
            <a:pPr>
              <a:spcAft>
                <a:spcPts val="800"/>
              </a:spcAft>
              <a:defRPr sz="1400">
                <a:solidFill>
                  <a:srgbClr val="333333"/>
                </a:solidFill>
                <a:latin typeface="Calibri"/>
              </a:defRPr>
            </a:pPr>
            <a:r>
              <a:t>Item 7 (Sampling): Add convenience series statement</a:t>
            </a:r>
          </a:p>
          <a:p>
            <a:pPr>
              <a:spcAft>
                <a:spcPts val="800"/>
              </a:spcAft>
              <a:defRPr sz="1400">
                <a:solidFill>
                  <a:srgbClr val="333333"/>
                </a:solidFill>
                <a:latin typeface="Calibri"/>
              </a:defRPr>
            </a:pPr>
            <a:r>
              <a:t>Item 11 (Blinding): Add CV-based blinding explanation</a:t>
            </a:r>
          </a:p>
          <a:p>
            <a:pPr>
              <a:spcAft>
                <a:spcPts val="800"/>
              </a:spcAft>
              <a:defRPr sz="1400">
                <a:solidFill>
                  <a:srgbClr val="333333"/>
                </a:solidFill>
                <a:latin typeface="Calibri"/>
              </a:defRPr>
            </a:pPr>
            <a:r>
              <a:t>Item 13 (Sample size): Add justification or state full dataset used</a:t>
            </a:r>
          </a:p>
          <a:p>
            <a:pPr>
              <a:spcAft>
                <a:spcPts val="800"/>
              </a:spcAft>
              <a:defRPr sz="1400">
                <a:solidFill>
                  <a:srgbClr val="333333"/>
                </a:solidFill>
                <a:latin typeface="Calibri"/>
              </a:defRPr>
            </a:pPr>
            <a:r>
              <a:t>Items 20/22 (Indeterminate): State no indeterminate results observed</a:t>
            </a:r>
          </a:p>
          <a:p>
            <a:pPr>
              <a:spcAft>
                <a:spcPts val="800"/>
              </a:spcAft>
              <a:defRPr sz="1400">
                <a:solidFill>
                  <a:srgbClr val="333333"/>
                </a:solidFill>
                <a:latin typeface="Calibri"/>
              </a:defRPr>
            </a:pPr>
            <a:r>
              <a:t>Item 28 (Funding): Add funding disclosure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MedSci Skills Pipeline — What Was Generated</a:t>
            </a:r>
          </a:p>
        </p:txBody>
      </p:sp>
      <p:sp>
        <p:nvSpPr>
          <p:cNvPr id="4" name="Oval 3"/>
          <p:cNvSpPr/>
          <p:nvPr/>
        </p:nvSpPr>
        <p:spPr>
          <a:xfrm>
            <a:off x="1005840" y="1645920"/>
            <a:ext cx="640080" cy="640080"/>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1</a:t>
            </a:r>
          </a:p>
        </p:txBody>
      </p:sp>
      <p:sp>
        <p:nvSpPr>
          <p:cNvPr id="5" name="TextBox 4"/>
          <p:cNvSpPr txBox="1"/>
          <p:nvPr/>
        </p:nvSpPr>
        <p:spPr>
          <a:xfrm>
            <a:off x="1737360" y="1737360"/>
            <a:ext cx="548640" cy="457200"/>
          </a:xfrm>
          <a:prstGeom prst="rect">
            <a:avLst/>
          </a:prstGeom>
          <a:noFill/>
        </p:spPr>
        <p:txBody>
          <a:bodyPr wrap="square">
            <a:spAutoFit/>
          </a:bodyPr>
          <a:lstStyle/>
          <a:p>
            <a:pPr algn="ctr">
              <a:defRPr sz="1600" b="0">
                <a:solidFill>
                  <a:srgbClr val="666666"/>
                </a:solidFill>
                <a:latin typeface="Calibri"/>
              </a:defRPr>
            </a:pPr>
            <a:r>
              <a:t>--&gt;</a:t>
            </a:r>
          </a:p>
        </p:txBody>
      </p:sp>
      <p:sp>
        <p:nvSpPr>
          <p:cNvPr id="6" name="TextBox 5"/>
          <p:cNvSpPr txBox="1"/>
          <p:nvPr/>
        </p:nvSpPr>
        <p:spPr>
          <a:xfrm>
            <a:off x="457200" y="2468880"/>
            <a:ext cx="1737360" cy="457200"/>
          </a:xfrm>
          <a:prstGeom prst="rect">
            <a:avLst/>
          </a:prstGeom>
          <a:noFill/>
        </p:spPr>
        <p:txBody>
          <a:bodyPr wrap="square">
            <a:spAutoFit/>
          </a:bodyPr>
          <a:lstStyle/>
          <a:p>
            <a:pPr algn="ctr">
              <a:defRPr sz="1400" b="1">
                <a:solidFill>
                  <a:srgbClr val="0072B2"/>
                </a:solidFill>
                <a:latin typeface="Calibri"/>
              </a:defRPr>
            </a:pPr>
            <a:r>
              <a:t>Data Loading</a:t>
            </a:r>
          </a:p>
        </p:txBody>
      </p:sp>
      <p:sp>
        <p:nvSpPr>
          <p:cNvPr id="7" name="TextBox 6"/>
          <p:cNvSpPr txBox="1"/>
          <p:nvPr/>
        </p:nvSpPr>
        <p:spPr>
          <a:xfrm>
            <a:off x="457200" y="2926080"/>
            <a:ext cx="1737360" cy="914400"/>
          </a:xfrm>
          <a:prstGeom prst="rect">
            <a:avLst/>
          </a:prstGeom>
          <a:noFill/>
        </p:spPr>
        <p:txBody>
          <a:bodyPr wrap="square">
            <a:spAutoFit/>
          </a:bodyPr>
          <a:lstStyle/>
          <a:p>
            <a:pPr algn="ctr">
              <a:defRPr sz="1100" b="0">
                <a:solidFill>
                  <a:srgbClr val="666666"/>
                </a:solidFill>
                <a:latin typeface="Calibri"/>
              </a:defRPr>
            </a:pPr>
            <a:r>
              <a:t>sklearn one-liner</a:t>
            </a:r>
            <a:br/>
            <a:r>
              <a:t>569 samples</a:t>
            </a:r>
          </a:p>
        </p:txBody>
      </p:sp>
      <p:sp>
        <p:nvSpPr>
          <p:cNvPr id="8" name="Oval 7"/>
          <p:cNvSpPr/>
          <p:nvPr/>
        </p:nvSpPr>
        <p:spPr>
          <a:xfrm>
            <a:off x="2926080" y="1645920"/>
            <a:ext cx="640080" cy="640080"/>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2</a:t>
            </a:r>
          </a:p>
        </p:txBody>
      </p:sp>
      <p:sp>
        <p:nvSpPr>
          <p:cNvPr id="9" name="TextBox 8"/>
          <p:cNvSpPr txBox="1"/>
          <p:nvPr/>
        </p:nvSpPr>
        <p:spPr>
          <a:xfrm>
            <a:off x="3657600" y="1737360"/>
            <a:ext cx="548640" cy="457200"/>
          </a:xfrm>
          <a:prstGeom prst="rect">
            <a:avLst/>
          </a:prstGeom>
          <a:noFill/>
        </p:spPr>
        <p:txBody>
          <a:bodyPr wrap="square">
            <a:spAutoFit/>
          </a:bodyPr>
          <a:lstStyle/>
          <a:p>
            <a:pPr algn="ctr">
              <a:defRPr sz="1600" b="0">
                <a:solidFill>
                  <a:srgbClr val="666666"/>
                </a:solidFill>
                <a:latin typeface="Calibri"/>
              </a:defRPr>
            </a:pPr>
            <a:r>
              <a:t>--&gt;</a:t>
            </a:r>
          </a:p>
        </p:txBody>
      </p:sp>
      <p:sp>
        <p:nvSpPr>
          <p:cNvPr id="10" name="TextBox 9"/>
          <p:cNvSpPr txBox="1"/>
          <p:nvPr/>
        </p:nvSpPr>
        <p:spPr>
          <a:xfrm>
            <a:off x="2377440" y="2468880"/>
            <a:ext cx="1737360" cy="457200"/>
          </a:xfrm>
          <a:prstGeom prst="rect">
            <a:avLst/>
          </a:prstGeom>
          <a:noFill/>
        </p:spPr>
        <p:txBody>
          <a:bodyPr wrap="square">
            <a:spAutoFit/>
          </a:bodyPr>
          <a:lstStyle/>
          <a:p>
            <a:pPr algn="ctr">
              <a:defRPr sz="1400" b="1">
                <a:solidFill>
                  <a:srgbClr val="0072B2"/>
                </a:solidFill>
                <a:latin typeface="Calibri"/>
              </a:defRPr>
            </a:pPr>
            <a:r>
              <a:t>analyze-stats</a:t>
            </a:r>
          </a:p>
        </p:txBody>
      </p:sp>
      <p:sp>
        <p:nvSpPr>
          <p:cNvPr id="11" name="TextBox 10"/>
          <p:cNvSpPr txBox="1"/>
          <p:nvPr/>
        </p:nvSpPr>
        <p:spPr>
          <a:xfrm>
            <a:off x="2377440" y="2926080"/>
            <a:ext cx="1737360" cy="914400"/>
          </a:xfrm>
          <a:prstGeom prst="rect">
            <a:avLst/>
          </a:prstGeom>
          <a:noFill/>
        </p:spPr>
        <p:txBody>
          <a:bodyPr wrap="square">
            <a:spAutoFit/>
          </a:bodyPr>
          <a:lstStyle/>
          <a:p>
            <a:pPr algn="ctr">
              <a:defRPr sz="1100" b="0">
                <a:solidFill>
                  <a:srgbClr val="666666"/>
                </a:solidFill>
                <a:latin typeface="Calibri"/>
              </a:defRPr>
            </a:pPr>
            <a:r>
              <a:t>Table 1 + 3-model</a:t>
            </a:r>
            <a:br/>
            <a:r>
              <a:t>DeLong comparison</a:t>
            </a:r>
          </a:p>
        </p:txBody>
      </p:sp>
      <p:sp>
        <p:nvSpPr>
          <p:cNvPr id="12" name="Oval 11"/>
          <p:cNvSpPr/>
          <p:nvPr/>
        </p:nvSpPr>
        <p:spPr>
          <a:xfrm>
            <a:off x="4846320" y="1645920"/>
            <a:ext cx="640080" cy="640080"/>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3</a:t>
            </a:r>
          </a:p>
        </p:txBody>
      </p:sp>
      <p:sp>
        <p:nvSpPr>
          <p:cNvPr id="13" name="TextBox 12"/>
          <p:cNvSpPr txBox="1"/>
          <p:nvPr/>
        </p:nvSpPr>
        <p:spPr>
          <a:xfrm>
            <a:off x="5577840" y="1737360"/>
            <a:ext cx="548640" cy="457200"/>
          </a:xfrm>
          <a:prstGeom prst="rect">
            <a:avLst/>
          </a:prstGeom>
          <a:noFill/>
        </p:spPr>
        <p:txBody>
          <a:bodyPr wrap="square">
            <a:spAutoFit/>
          </a:bodyPr>
          <a:lstStyle/>
          <a:p>
            <a:pPr algn="ctr">
              <a:defRPr sz="1600" b="0">
                <a:solidFill>
                  <a:srgbClr val="666666"/>
                </a:solidFill>
                <a:latin typeface="Calibri"/>
              </a:defRPr>
            </a:pPr>
            <a:r>
              <a:t>--&gt;</a:t>
            </a:r>
          </a:p>
        </p:txBody>
      </p:sp>
      <p:sp>
        <p:nvSpPr>
          <p:cNvPr id="14" name="TextBox 13"/>
          <p:cNvSpPr txBox="1"/>
          <p:nvPr/>
        </p:nvSpPr>
        <p:spPr>
          <a:xfrm>
            <a:off x="4297680" y="2468880"/>
            <a:ext cx="1737360" cy="457200"/>
          </a:xfrm>
          <a:prstGeom prst="rect">
            <a:avLst/>
          </a:prstGeom>
          <a:noFill/>
        </p:spPr>
        <p:txBody>
          <a:bodyPr wrap="square">
            <a:spAutoFit/>
          </a:bodyPr>
          <a:lstStyle/>
          <a:p>
            <a:pPr algn="ctr">
              <a:defRPr sz="1400" b="1">
                <a:solidFill>
                  <a:srgbClr val="009E73"/>
                </a:solidFill>
                <a:latin typeface="Calibri"/>
              </a:defRPr>
            </a:pPr>
            <a:r>
              <a:t>make-figures</a:t>
            </a:r>
          </a:p>
        </p:txBody>
      </p:sp>
      <p:sp>
        <p:nvSpPr>
          <p:cNvPr id="15" name="TextBox 14"/>
          <p:cNvSpPr txBox="1"/>
          <p:nvPr/>
        </p:nvSpPr>
        <p:spPr>
          <a:xfrm>
            <a:off x="4297680" y="2926080"/>
            <a:ext cx="1737360" cy="914400"/>
          </a:xfrm>
          <a:prstGeom prst="rect">
            <a:avLst/>
          </a:prstGeom>
          <a:noFill/>
        </p:spPr>
        <p:txBody>
          <a:bodyPr wrap="square">
            <a:spAutoFit/>
          </a:bodyPr>
          <a:lstStyle/>
          <a:p>
            <a:pPr algn="ctr">
              <a:defRPr sz="1100" b="0">
                <a:solidFill>
                  <a:srgbClr val="666666"/>
                </a:solidFill>
                <a:latin typeface="Calibri"/>
              </a:defRPr>
            </a:pPr>
            <a:r>
              <a:t>ROC curve</a:t>
            </a:r>
            <a:br/>
            <a:r>
              <a:t>300 dpi + PDF</a:t>
            </a:r>
          </a:p>
        </p:txBody>
      </p:sp>
      <p:sp>
        <p:nvSpPr>
          <p:cNvPr id="16" name="Oval 15"/>
          <p:cNvSpPr/>
          <p:nvPr/>
        </p:nvSpPr>
        <p:spPr>
          <a:xfrm>
            <a:off x="6766560" y="1645920"/>
            <a:ext cx="640080" cy="640080"/>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4</a:t>
            </a:r>
          </a:p>
        </p:txBody>
      </p:sp>
      <p:sp>
        <p:nvSpPr>
          <p:cNvPr id="17" name="TextBox 16"/>
          <p:cNvSpPr txBox="1"/>
          <p:nvPr/>
        </p:nvSpPr>
        <p:spPr>
          <a:xfrm>
            <a:off x="7498080" y="1737360"/>
            <a:ext cx="548640" cy="457200"/>
          </a:xfrm>
          <a:prstGeom prst="rect">
            <a:avLst/>
          </a:prstGeom>
          <a:noFill/>
        </p:spPr>
        <p:txBody>
          <a:bodyPr wrap="square">
            <a:spAutoFit/>
          </a:bodyPr>
          <a:lstStyle/>
          <a:p>
            <a:pPr algn="ctr">
              <a:defRPr sz="1600" b="0">
                <a:solidFill>
                  <a:srgbClr val="666666"/>
                </a:solidFill>
                <a:latin typeface="Calibri"/>
              </a:defRPr>
            </a:pPr>
            <a:r>
              <a:t>--&gt;</a:t>
            </a:r>
          </a:p>
        </p:txBody>
      </p:sp>
      <p:sp>
        <p:nvSpPr>
          <p:cNvPr id="18" name="TextBox 17"/>
          <p:cNvSpPr txBox="1"/>
          <p:nvPr/>
        </p:nvSpPr>
        <p:spPr>
          <a:xfrm>
            <a:off x="6217920" y="2468880"/>
            <a:ext cx="1737360" cy="457200"/>
          </a:xfrm>
          <a:prstGeom prst="rect">
            <a:avLst/>
          </a:prstGeom>
          <a:noFill/>
        </p:spPr>
        <p:txBody>
          <a:bodyPr wrap="square">
            <a:spAutoFit/>
          </a:bodyPr>
          <a:lstStyle/>
          <a:p>
            <a:pPr algn="ctr">
              <a:defRPr sz="1400" b="1">
                <a:solidFill>
                  <a:srgbClr val="D55E00"/>
                </a:solidFill>
                <a:latin typeface="Calibri"/>
              </a:defRPr>
            </a:pPr>
            <a:r>
              <a:t>write-paper</a:t>
            </a:r>
          </a:p>
        </p:txBody>
      </p:sp>
      <p:sp>
        <p:nvSpPr>
          <p:cNvPr id="19" name="TextBox 18"/>
          <p:cNvSpPr txBox="1"/>
          <p:nvPr/>
        </p:nvSpPr>
        <p:spPr>
          <a:xfrm>
            <a:off x="6217920" y="2926080"/>
            <a:ext cx="1737360" cy="914400"/>
          </a:xfrm>
          <a:prstGeom prst="rect">
            <a:avLst/>
          </a:prstGeom>
          <a:noFill/>
        </p:spPr>
        <p:txBody>
          <a:bodyPr wrap="square">
            <a:spAutoFit/>
          </a:bodyPr>
          <a:lstStyle/>
          <a:p>
            <a:pPr algn="ctr">
              <a:defRPr sz="1100" b="0">
                <a:solidFill>
                  <a:srgbClr val="666666"/>
                </a:solidFill>
                <a:latin typeface="Calibri"/>
              </a:defRPr>
            </a:pPr>
            <a:r>
              <a:t>IMRAD manuscript</a:t>
            </a:r>
            <a:br/>
            <a:r>
              <a:t>~1,600 words</a:t>
            </a:r>
          </a:p>
        </p:txBody>
      </p:sp>
      <p:sp>
        <p:nvSpPr>
          <p:cNvPr id="20" name="Oval 19"/>
          <p:cNvSpPr/>
          <p:nvPr/>
        </p:nvSpPr>
        <p:spPr>
          <a:xfrm>
            <a:off x="8686800" y="1645920"/>
            <a:ext cx="640080" cy="640080"/>
          </a:xfrm>
          <a:prstGeom prst="ellipse">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5</a:t>
            </a:r>
          </a:p>
        </p:txBody>
      </p:sp>
      <p:sp>
        <p:nvSpPr>
          <p:cNvPr id="21" name="TextBox 20"/>
          <p:cNvSpPr txBox="1"/>
          <p:nvPr/>
        </p:nvSpPr>
        <p:spPr>
          <a:xfrm>
            <a:off x="9418320" y="1737360"/>
            <a:ext cx="548640" cy="457200"/>
          </a:xfrm>
          <a:prstGeom prst="rect">
            <a:avLst/>
          </a:prstGeom>
          <a:noFill/>
        </p:spPr>
        <p:txBody>
          <a:bodyPr wrap="square">
            <a:spAutoFit/>
          </a:bodyPr>
          <a:lstStyle/>
          <a:p>
            <a:pPr algn="ctr">
              <a:defRPr sz="1600" b="0">
                <a:solidFill>
                  <a:srgbClr val="666666"/>
                </a:solidFill>
                <a:latin typeface="Calibri"/>
              </a:defRPr>
            </a:pPr>
            <a:r>
              <a:t>--&gt;</a:t>
            </a:r>
          </a:p>
        </p:txBody>
      </p:sp>
      <p:sp>
        <p:nvSpPr>
          <p:cNvPr id="22" name="TextBox 21"/>
          <p:cNvSpPr txBox="1"/>
          <p:nvPr/>
        </p:nvSpPr>
        <p:spPr>
          <a:xfrm>
            <a:off x="8138160" y="2468880"/>
            <a:ext cx="1737360" cy="457200"/>
          </a:xfrm>
          <a:prstGeom prst="rect">
            <a:avLst/>
          </a:prstGeom>
          <a:noFill/>
        </p:spPr>
        <p:txBody>
          <a:bodyPr wrap="square">
            <a:spAutoFit/>
          </a:bodyPr>
          <a:lstStyle/>
          <a:p>
            <a:pPr algn="ctr">
              <a:defRPr sz="1400" b="1">
                <a:solidFill>
                  <a:srgbClr val="CC3333"/>
                </a:solidFill>
                <a:latin typeface="Calibri"/>
              </a:defRPr>
            </a:pPr>
            <a:r>
              <a:t>check-reporting</a:t>
            </a:r>
          </a:p>
        </p:txBody>
      </p:sp>
      <p:sp>
        <p:nvSpPr>
          <p:cNvPr id="23" name="TextBox 22"/>
          <p:cNvSpPr txBox="1"/>
          <p:nvPr/>
        </p:nvSpPr>
        <p:spPr>
          <a:xfrm>
            <a:off x="8138160" y="2926080"/>
            <a:ext cx="1737360" cy="914400"/>
          </a:xfrm>
          <a:prstGeom prst="rect">
            <a:avLst/>
          </a:prstGeom>
          <a:noFill/>
        </p:spPr>
        <p:txBody>
          <a:bodyPr wrap="square">
            <a:spAutoFit/>
          </a:bodyPr>
          <a:lstStyle/>
          <a:p>
            <a:pPr algn="ctr">
              <a:defRPr sz="1100" b="0">
                <a:solidFill>
                  <a:srgbClr val="666666"/>
                </a:solidFill>
                <a:latin typeface="Calibri"/>
              </a:defRPr>
            </a:pPr>
            <a:r>
              <a:t>STARD 30-item</a:t>
            </a:r>
            <a:br/>
            <a:r>
              <a:t>compliance audit</a:t>
            </a:r>
          </a:p>
        </p:txBody>
      </p:sp>
      <p:sp>
        <p:nvSpPr>
          <p:cNvPr id="24" name="Oval 23"/>
          <p:cNvSpPr/>
          <p:nvPr/>
        </p:nvSpPr>
        <p:spPr>
          <a:xfrm>
            <a:off x="10607040" y="1645920"/>
            <a:ext cx="640080" cy="640080"/>
          </a:xfrm>
          <a:prstGeom prst="ellipse">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6</a:t>
            </a:r>
          </a:p>
        </p:txBody>
      </p:sp>
      <p:sp>
        <p:nvSpPr>
          <p:cNvPr id="25" name="TextBox 24"/>
          <p:cNvSpPr txBox="1"/>
          <p:nvPr/>
        </p:nvSpPr>
        <p:spPr>
          <a:xfrm>
            <a:off x="10058400" y="2468880"/>
            <a:ext cx="1737360" cy="457200"/>
          </a:xfrm>
          <a:prstGeom prst="rect">
            <a:avLst/>
          </a:prstGeom>
          <a:noFill/>
        </p:spPr>
        <p:txBody>
          <a:bodyPr wrap="square">
            <a:spAutoFit/>
          </a:bodyPr>
          <a:lstStyle/>
          <a:p>
            <a:pPr algn="ctr">
              <a:defRPr sz="1400" b="1">
                <a:solidFill>
                  <a:srgbClr val="1B2A4A"/>
                </a:solidFill>
                <a:latin typeface="Calibri"/>
              </a:defRPr>
            </a:pPr>
            <a:r>
              <a:t>present-paper</a:t>
            </a:r>
          </a:p>
        </p:txBody>
      </p:sp>
      <p:sp>
        <p:nvSpPr>
          <p:cNvPr id="26" name="TextBox 25"/>
          <p:cNvSpPr txBox="1"/>
          <p:nvPr/>
        </p:nvSpPr>
        <p:spPr>
          <a:xfrm>
            <a:off x="10058400" y="2926080"/>
            <a:ext cx="1737360" cy="914400"/>
          </a:xfrm>
          <a:prstGeom prst="rect">
            <a:avLst/>
          </a:prstGeom>
          <a:noFill/>
        </p:spPr>
        <p:txBody>
          <a:bodyPr wrap="square">
            <a:spAutoFit/>
          </a:bodyPr>
          <a:lstStyle/>
          <a:p>
            <a:pPr algn="ctr">
              <a:defRPr sz="1100" b="0">
                <a:solidFill>
                  <a:srgbClr val="666666"/>
                </a:solidFill>
                <a:latin typeface="Calibri"/>
              </a:defRPr>
            </a:pPr>
            <a:r>
              <a:t>This presentation</a:t>
            </a:r>
            <a:br/>
            <a:r>
              <a:t>12 slides + notes</a:t>
            </a:r>
          </a:p>
        </p:txBody>
      </p:sp>
      <p:sp>
        <p:nvSpPr>
          <p:cNvPr id="27" name="Rectangle 26"/>
          <p:cNvSpPr/>
          <p:nvPr/>
        </p:nvSpPr>
        <p:spPr>
          <a:xfrm>
            <a:off x="457200" y="4572000"/>
            <a:ext cx="11247120" cy="1645920"/>
          </a:xfrm>
          <a:prstGeom prst="rect">
            <a:avLst/>
          </a:prstGeom>
          <a:solidFill>
            <a:srgbClr val="F0F7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663440"/>
            <a:ext cx="10698480" cy="457200"/>
          </a:xfrm>
          <a:prstGeom prst="rect">
            <a:avLst/>
          </a:prstGeom>
          <a:noFill/>
        </p:spPr>
        <p:txBody>
          <a:bodyPr wrap="square">
            <a:spAutoFit/>
          </a:bodyPr>
          <a:lstStyle/>
          <a:p>
            <a:pPr algn="ctr">
              <a:defRPr sz="1600" b="1">
                <a:solidFill>
                  <a:srgbClr val="1B2A4A"/>
                </a:solidFill>
                <a:latin typeface="Calibri"/>
              </a:defRPr>
            </a:pPr>
            <a:r>
              <a:t>Total Output: 14 files  |  2 Python scripts  |  0 hallucinated citations</a:t>
            </a:r>
          </a:p>
        </p:txBody>
      </p:sp>
      <p:sp>
        <p:nvSpPr>
          <p:cNvPr id="29" name="TextBox 28"/>
          <p:cNvSpPr txBox="1"/>
          <p:nvPr/>
        </p:nvSpPr>
        <p:spPr>
          <a:xfrm>
            <a:off x="731520" y="5212080"/>
            <a:ext cx="10698480" cy="731520"/>
          </a:xfrm>
          <a:prstGeom prst="rect">
            <a:avLst/>
          </a:prstGeom>
          <a:noFill/>
        </p:spPr>
        <p:txBody>
          <a:bodyPr wrap="square">
            <a:spAutoFit/>
          </a:bodyPr>
          <a:lstStyle/>
          <a:p>
            <a:pPr algn="ctr">
              <a:defRPr sz="1200" b="0">
                <a:solidFill>
                  <a:srgbClr val="666666"/>
                </a:solidFill>
                <a:latin typeface="Calibri"/>
              </a:defRPr>
            </a:pPr>
            <a:r>
              <a:t>Every CI calculated correctly (DeLong for AUC, Wilson for proportions)  |  Cross-validation prevents data leakage  |  STARD audit catches 6 gaps automatically  |  All code reproducible (seed = 42)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82880"/>
            <a:ext cx="10058400" cy="640080"/>
          </a:xfrm>
          <a:prstGeom prst="rect">
            <a:avLst/>
          </a:prstGeom>
          <a:noFill/>
        </p:spPr>
        <p:txBody>
          <a:bodyPr wrap="square">
            <a:spAutoFit/>
          </a:bodyPr>
          <a:lstStyle/>
          <a:p>
            <a:pPr algn="l">
              <a:defRPr sz="2800" b="1">
                <a:solidFill>
                  <a:srgbClr val="FFFFFF"/>
                </a:solidFill>
                <a:latin typeface="Calibri"/>
              </a:defRPr>
            </a:pPr>
            <a:r>
              <a:t>Conclusions</a:t>
            </a:r>
          </a:p>
        </p:txBody>
      </p:sp>
      <p:sp>
        <p:nvSpPr>
          <p:cNvPr id="4" name="TextBox 3"/>
          <p:cNvSpPr txBox="1"/>
          <p:nvPr/>
        </p:nvSpPr>
        <p:spPr>
          <a:xfrm>
            <a:off x="731520" y="1371600"/>
            <a:ext cx="10515600" cy="2743200"/>
          </a:xfrm>
          <a:prstGeom prst="rect">
            <a:avLst/>
          </a:prstGeom>
          <a:noFill/>
        </p:spPr>
        <p:txBody>
          <a:bodyPr wrap="square">
            <a:spAutoFit/>
          </a:bodyPr>
          <a:lstStyle/>
          <a:p>
            <a:pPr>
              <a:spcAft>
                <a:spcPts val="1600"/>
              </a:spcAft>
              <a:defRPr sz="1800">
                <a:solidFill>
                  <a:srgbClr val="333333"/>
                </a:solidFill>
                <a:latin typeface="Calibri"/>
              </a:defRPr>
            </a:pPr>
            <a:r>
              <a:t>LR and SVM achieved near-perfect diagnostic accuracy (AUC &gt; 0.99)</a:t>
            </a:r>
          </a:p>
          <a:p>
            <a:pPr>
              <a:spcAft>
                <a:spcPts val="1600"/>
              </a:spcAft>
              <a:defRPr sz="1800">
                <a:solidFill>
                  <a:srgbClr val="333333"/>
                </a:solidFill>
                <a:latin typeface="Calibri"/>
              </a:defRPr>
            </a:pPr>
            <a:r>
              <a:t>SVM significantly outperformed RF (DeLong p = 0.043)</a:t>
            </a:r>
          </a:p>
          <a:p>
            <a:pPr>
              <a:spcAft>
                <a:spcPts val="1600"/>
              </a:spcAft>
              <a:defRPr sz="1800">
                <a:solidFill>
                  <a:srgbClr val="333333"/>
                </a:solidFill>
                <a:latin typeface="Calibri"/>
              </a:defRPr>
            </a:pPr>
            <a:r>
              <a:t>Simpler models (LR) may be preferred for clinical deployment — comparable accuracy, greater interpretability</a:t>
            </a:r>
          </a:p>
          <a:p>
            <a:pPr>
              <a:spcAft>
                <a:spcPts val="1600"/>
              </a:spcAft>
              <a:defRPr sz="1800">
                <a:solidFill>
                  <a:srgbClr val="333333"/>
                </a:solidFill>
                <a:latin typeface="Calibri"/>
              </a:defRPr>
            </a:pPr>
            <a:r>
              <a:t>Formal statistical comparison (DeLong test) is essential — point estimates are insufficient</a:t>
            </a:r>
          </a:p>
        </p:txBody>
      </p:sp>
      <p:sp>
        <p:nvSpPr>
          <p:cNvPr id="5" name="Rectangle 4"/>
          <p:cNvSpPr/>
          <p:nvPr/>
        </p:nvSpPr>
        <p:spPr>
          <a:xfrm>
            <a:off x="457200" y="4572000"/>
            <a:ext cx="11247120" cy="1645920"/>
          </a:xfrm>
          <a:prstGeom prst="rect">
            <a:avLst/>
          </a:prstGeom>
          <a:solidFill>
            <a:srgbClr val="F0F7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754880"/>
            <a:ext cx="10698480" cy="1097280"/>
          </a:xfrm>
          <a:prstGeom prst="rect">
            <a:avLst/>
          </a:prstGeom>
          <a:noFill/>
        </p:spPr>
        <p:txBody>
          <a:bodyPr wrap="square">
            <a:spAutoFit/>
          </a:bodyPr>
          <a:lstStyle/>
          <a:p>
            <a:pPr algn="ctr">
              <a:defRPr sz="1400" b="0">
                <a:solidFill>
                  <a:srgbClr val="1B2A4A"/>
                </a:solidFill>
                <a:latin typeface="Calibri"/>
              </a:defRPr>
            </a:pPr>
            <a:r>
              <a:t>This entire presentation — from data loading to slides — was generated</a:t>
            </a:r>
            <a:br/>
            <a:r>
              <a:t>using MedSci Skills, an open-source bundle of 20 Claude Code skills</a:t>
            </a:r>
            <a:br/>
            <a:r>
              <a:t>for medical researchers.</a:t>
            </a:r>
            <a:br/>
            <a:br/>
            <a:r>
              <a:t>github.com/Aperivue/medsci-skills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2926080"/>
            <a:ext cx="12191695" cy="548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914400"/>
          </a:xfrm>
          <a:prstGeom prst="rect">
            <a:avLst/>
          </a:prstGeom>
          <a:noFill/>
        </p:spPr>
        <p:txBody>
          <a:bodyPr wrap="square">
            <a:spAutoFit/>
          </a:bodyPr>
          <a:lstStyle/>
          <a:p>
            <a:pPr algn="ctr">
              <a:defRPr sz="4000" b="1">
                <a:solidFill>
                  <a:srgbClr val="FFFFFF"/>
                </a:solidFill>
                <a:latin typeface="Calibri"/>
              </a:defRPr>
            </a:pPr>
            <a:r>
              <a:t>Thank You</a:t>
            </a:r>
          </a:p>
        </p:txBody>
      </p:sp>
      <p:sp>
        <p:nvSpPr>
          <p:cNvPr id="4" name="TextBox 3"/>
          <p:cNvSpPr txBox="1"/>
          <p:nvPr/>
        </p:nvSpPr>
        <p:spPr>
          <a:xfrm>
            <a:off x="914400" y="3291840"/>
            <a:ext cx="10058400" cy="914400"/>
          </a:xfrm>
          <a:prstGeom prst="rect">
            <a:avLst/>
          </a:prstGeom>
          <a:noFill/>
        </p:spPr>
        <p:txBody>
          <a:bodyPr wrap="square">
            <a:spAutoFit/>
          </a:bodyPr>
          <a:lstStyle/>
          <a:p>
            <a:pPr algn="ctr">
              <a:defRPr sz="2000" b="0">
                <a:solidFill>
                  <a:srgbClr val="AACCEE"/>
                </a:solidFill>
                <a:latin typeface="Calibri"/>
              </a:defRPr>
            </a:pPr>
            <a:r>
              <a:t>20 skills  |  MIT licensed  |  Free forever</a:t>
            </a:r>
          </a:p>
        </p:txBody>
      </p:sp>
      <p:sp>
        <p:nvSpPr>
          <p:cNvPr id="5" name="TextBox 4"/>
          <p:cNvSpPr txBox="1"/>
          <p:nvPr/>
        </p:nvSpPr>
        <p:spPr>
          <a:xfrm>
            <a:off x="914400" y="4389120"/>
            <a:ext cx="10058400" cy="457200"/>
          </a:xfrm>
          <a:prstGeom prst="rect">
            <a:avLst/>
          </a:prstGeom>
          <a:noFill/>
        </p:spPr>
        <p:txBody>
          <a:bodyPr wrap="square">
            <a:spAutoFit/>
          </a:bodyPr>
          <a:lstStyle/>
          <a:p>
            <a:pPr algn="ctr">
              <a:defRPr sz="1800" b="0">
                <a:solidFill>
                  <a:srgbClr val="0072B2"/>
                </a:solidFill>
                <a:latin typeface="Calibri"/>
              </a:defRPr>
            </a:pPr>
            <a:r>
              <a:t>github.com/Aperivue/medsci-skills</a:t>
            </a:r>
          </a:p>
        </p:txBody>
      </p:sp>
      <p:sp>
        <p:nvSpPr>
          <p:cNvPr id="6" name="TextBox 5"/>
          <p:cNvSpPr txBox="1"/>
          <p:nvPr/>
        </p:nvSpPr>
        <p:spPr>
          <a:xfrm>
            <a:off x="914400" y="5120640"/>
            <a:ext cx="10058400" cy="457200"/>
          </a:xfrm>
          <a:prstGeom prst="rect">
            <a:avLst/>
          </a:prstGeom>
          <a:noFill/>
        </p:spPr>
        <p:txBody>
          <a:bodyPr wrap="square">
            <a:spAutoFit/>
          </a:bodyPr>
          <a:lstStyle/>
          <a:p>
            <a:pPr algn="ctr">
              <a:defRPr sz="1400" b="0">
                <a:solidFill>
                  <a:srgbClr val="88AACC"/>
                </a:solidFill>
                <a:latin typeface="Calibri"/>
              </a:defRPr>
            </a:pPr>
            <a:r>
              <a:t>Built by a radiologist who writes papers — not a tech company that doesn't.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