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presentation summarizes a meta-analysis of 13 randomized controlled trials evaluating BCG vaccine efficacy for tuberculosis prevention. The analysis is based on the classic Colditz et al. 1994 dataset and serves as a teaching demonstration of meta-analytic methods.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Tuberculosis kills over a million people annually. BCG is the only licensed vaccine but its efficacy is highly variable. Colditz and colleagues published a seminal meta-analysis in 1994 showing that latitude strongly predicts vaccine efficacy. The leading explanation involves cross-reactive immunity from environmental NTM being more prevalent near the equator.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four objectives cover the full meta-analytic pipeline: pooled estimation, heterogeneity assessment, moderator analysis via meta-regression, and robustness checks including leave-one-out sensitivity and publication bias tests.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the well-characterized dat.bcg dataset containing 13 RCTs. Risk ratios were computed from 2x2 tables and analyzed with a REML random-effects model. Our analysis pipeline includes heterogeneity assessment, subgroup analysis by allocation method, meta-regression with absolute latitude, and comprehensive publication bias and sensitivity analyses.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forest plot shows all 13 studies with their individual risk ratios and 95% confidence intervals. The pooled RR is 0.489, meaning BCG vaccination reduced TB risk by approximately 51%. Note the substantial variability across studies, with I-squared of 92.2%. The diamond at the bottom represents the pooled estimate under the REML random-effects model. Several studies, particularly TPT Madras and Comstock 1969/1976, show risk ratios near or above 1.0, indicating no protective effect in those settings.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Heterogeneity is substantial, with I-squared of 92.2%, meaning over 90% of variability is due to true differences between studies rather than sampling error. The prediction interval includes 1.0, cautioning that a future study might not show benefit. Randomly allocated trials showed the strongest protective effect, which may reflect better methodological quality. However, high residual heterogeneity persists within all subgroups.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bubble plot demonstrates the strong negative relationship between latitude and log risk ratio. Each bubble is sized proportionally to study precision. The regression coefficient of -0.029 means that for each degree increase in latitude, the log RR decreases by 0.029, reflecting greater vaccine efficacy. Latitude alone explains 75.6% of between-study variance. This is consistent with the hypothesis that NTM exposure at lower latitudes provides partial cross-reactive immunity, reducing the incremental benefit of BCG.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Publication bias assessment is reassuring. The funnel plot shows reasonable symmetry. Both Egger's regression test and Begg's rank correlation test are non-significant. Trim-and-fill analysis imputed only one study, and the adjusted estimate of 0.518 is very close to the original 0.489, both remaining significant. However, with only 13 studies, these tests have limited statistical power.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Leave-one-out analysis is a critical robustness check. By iteratively removing each study and re-fitting the model, we confirm that no single study unduly influences the pooled result. All 13 estimates remain significant, ranging from 0.452 to 0.533. No studies had large externally standardized residuals. This gives us confidence that the overall conclusion of BCG efficacy is robust.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BCG vaccination provides significant protection against TB with about 51% risk reduction. However, efficacy varies dramatically by latitude, with this single moderator explaining three-quarters of the heterogeneity. The findings support continued BCG use, particularly in temperate and high-latitude regions, while highlighting the urgent need for next-generation vaccines effective in tropical settings where NTM exposure attenuates BCG benefit.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should acknowledge several limitations. The data are historical, spanning a period when TB diagnostics and BCG manufacturing varied. We only have aggregate data, not individual patient data. With 13 studies, meta-regression power is limited. This is a re-analysis for teaching purposes, not a de novo systematic review. We also did not perform formal risk of bias or GRADE assessments, which would be required for a submission-ready manuscript.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 am happy to take any questions. The full analysis code and outputs are available as part of the MedSci Skills demo package.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2926080"/>
            <a:ext cx="9418320"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914400"/>
            <a:ext cx="9418320" cy="1828800"/>
          </a:xfrm>
          <a:prstGeom prst="rect">
            <a:avLst/>
          </a:prstGeom>
          <a:noFill/>
        </p:spPr>
        <p:txBody>
          <a:bodyPr wrap="square">
            <a:spAutoFit/>
          </a:bodyPr>
          <a:lstStyle/>
          <a:p>
            <a:pPr algn="ctr">
              <a:defRPr sz="3600" b="1">
                <a:solidFill>
                  <a:srgbClr val="FFFFFF"/>
                </a:solidFill>
                <a:latin typeface="Calibri"/>
              </a:defRPr>
            </a:pPr>
            <a:r>
              <a:t>Efficacy of BCG Vaccination for</a:t>
            </a:r>
            <a:br/>
            <a:r>
              <a:t>Prevention of Tuberculosis</a:t>
            </a:r>
          </a:p>
        </p:txBody>
      </p:sp>
      <p:sp>
        <p:nvSpPr>
          <p:cNvPr id="5" name="TextBox 4"/>
          <p:cNvSpPr txBox="1"/>
          <p:nvPr/>
        </p:nvSpPr>
        <p:spPr>
          <a:xfrm>
            <a:off x="1371600" y="3200400"/>
            <a:ext cx="9418320" cy="914400"/>
          </a:xfrm>
          <a:prstGeom prst="rect">
            <a:avLst/>
          </a:prstGeom>
          <a:noFill/>
        </p:spPr>
        <p:txBody>
          <a:bodyPr wrap="square">
            <a:spAutoFit/>
          </a:bodyPr>
          <a:lstStyle/>
          <a:p>
            <a:pPr algn="ctr">
              <a:defRPr sz="2400">
                <a:solidFill>
                  <a:srgbClr val="0072B2"/>
                </a:solidFill>
                <a:latin typeface="Calibri"/>
              </a:defRPr>
            </a:pPr>
            <a:r>
              <a:t>A Meta-Analysis of Randomized Controlled Trials</a:t>
            </a:r>
          </a:p>
        </p:txBody>
      </p:sp>
      <p:sp>
        <p:nvSpPr>
          <p:cNvPr id="6" name="TextBox 5"/>
          <p:cNvSpPr txBox="1"/>
          <p:nvPr/>
        </p:nvSpPr>
        <p:spPr>
          <a:xfrm>
            <a:off x="1371600" y="4572000"/>
            <a:ext cx="9418320" cy="1371600"/>
          </a:xfrm>
          <a:prstGeom prst="rect">
            <a:avLst/>
          </a:prstGeom>
          <a:noFill/>
        </p:spPr>
        <p:txBody>
          <a:bodyPr wrap="square">
            <a:spAutoFit/>
          </a:bodyPr>
          <a:lstStyle/>
          <a:p>
            <a:pPr algn="ctr">
              <a:defRPr sz="1800">
                <a:solidFill>
                  <a:srgbClr val="CCCCCC"/>
                </a:solidFill>
                <a:latin typeface="Calibri"/>
              </a:defRPr>
            </a:pPr>
            <a:r>
              <a:t>MedSci Skills Demo</a:t>
            </a:r>
          </a:p>
          <a:p>
            <a:pPr algn="ctr">
              <a:defRPr sz="1400">
                <a:solidFill>
                  <a:srgbClr val="999999"/>
                </a:solidFill>
                <a:latin typeface="Calibri"/>
              </a:defRPr>
            </a:pPr>
            <a:r>
              <a:t>Based on Colditz et al. (1994) | 2026-04-08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Background</a:t>
            </a: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400"/>
              </a:spcAft>
              <a:defRPr sz="2000" b="0">
                <a:solidFill>
                  <a:srgbClr val="2D2D2D"/>
                </a:solidFill>
                <a:latin typeface="Calibri"/>
              </a:defRPr>
            </a:pPr>
            <a:r>
              <a:t>TB remains a leading infectious cause of death (1.3 million deaths/year)</a:t>
            </a:r>
          </a:p>
          <a:p>
            <a:pPr>
              <a:spcAft>
                <a:spcPts val="400"/>
              </a:spcAft>
              <a:defRPr sz="2000" b="0">
                <a:solidFill>
                  <a:srgbClr val="2D2D2D"/>
                </a:solidFill>
                <a:latin typeface="Calibri"/>
              </a:defRPr>
            </a:pPr>
            <a:r>
              <a:t>BCG vaccine: only licensed TB vaccine, given to &gt;100 million children annually</a:t>
            </a:r>
          </a:p>
          <a:p>
            <a:pPr>
              <a:spcAft>
                <a:spcPts val="400"/>
              </a:spcAft>
              <a:defRPr sz="2000" b="0">
                <a:solidFill>
                  <a:srgbClr val="2D2D2D"/>
                </a:solidFill>
                <a:latin typeface="Calibri"/>
              </a:defRPr>
            </a:pPr>
            <a:r>
              <a:t>Reported efficacy ranges from 0% to &gt;80% across studies</a:t>
            </a:r>
          </a:p>
          <a:p>
            <a:pPr>
              <a:spcAft>
                <a:spcPts val="400"/>
              </a:spcAft>
              <a:defRPr sz="2000" b="0">
                <a:solidFill>
                  <a:srgbClr val="2D2D2D"/>
                </a:solidFill>
                <a:latin typeface="Calibri"/>
              </a:defRPr>
            </a:pPr>
            <a:r>
              <a:t>Landmark meta-analysis by Colditz et al. (JAMA 1994) identified geographic latitude as key moderator</a:t>
            </a:r>
          </a:p>
          <a:p>
            <a:pPr>
              <a:spcAft>
                <a:spcPts val="400"/>
              </a:spcAft>
              <a:defRPr sz="2000" b="0">
                <a:solidFill>
                  <a:srgbClr val="2D2D2D"/>
                </a:solidFill>
                <a:latin typeface="Calibri"/>
              </a:defRPr>
            </a:pPr>
            <a:r>
              <a:t>Hypothesis: environmental non-tuberculous mycobacteria (NTM) exposure at lower latitudes attenuates BCG efficacy</a:t>
            </a:r>
          </a:p>
          <a:p>
            <a:pPr>
              <a:spcAft>
                <a:spcPts val="400"/>
              </a:spcAft>
              <a:defRPr sz="2000" b="0">
                <a:solidFill>
                  <a:srgbClr val="2D2D2D"/>
                </a:solidFill>
                <a:latin typeface="Calibri"/>
              </a:defRPr>
            </a:pPr>
            <a:r>
              <a:t>Need: systematic quantification with modern meta-analytic methods</a:t>
            </a:r>
          </a:p>
        </p:txBody>
      </p:sp>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Objectives</a:t>
            </a:r>
          </a:p>
        </p:txBody>
      </p:sp>
      <p:sp>
        <p:nvSpPr>
          <p:cNvPr id="5" name="TextBox 4"/>
          <p:cNvSpPr txBox="1"/>
          <p:nvPr/>
        </p:nvSpPr>
        <p:spPr>
          <a:xfrm>
            <a:off x="548640" y="1645920"/>
            <a:ext cx="10972800" cy="5029200"/>
          </a:xfrm>
          <a:prstGeom prst="rect">
            <a:avLst/>
          </a:prstGeom>
          <a:noFill/>
        </p:spPr>
        <p:txBody>
          <a:bodyPr wrap="square">
            <a:spAutoFit/>
          </a:bodyPr>
          <a:lstStyle/>
          <a:p>
            <a:pPr>
              <a:spcAft>
                <a:spcPts val="400"/>
              </a:spcAft>
              <a:defRPr sz="2200" b="0">
                <a:solidFill>
                  <a:srgbClr val="2D2D2D"/>
                </a:solidFill>
                <a:latin typeface="Calibri"/>
              </a:defRPr>
            </a:pPr>
            <a:r>
              <a:t>1. Quantify the overall protective efficacy of BCG vaccination against tuberculosis</a:t>
            </a:r>
          </a:p>
          <a:p>
            <a:pPr>
              <a:spcAft>
                <a:spcPts val="600"/>
              </a:spcAft>
            </a:pPr>
          </a:p>
          <a:p>
            <a:pPr>
              <a:spcAft>
                <a:spcPts val="400"/>
              </a:spcAft>
              <a:defRPr sz="2200" b="0">
                <a:solidFill>
                  <a:srgbClr val="2D2D2D"/>
                </a:solidFill>
                <a:latin typeface="Calibri"/>
              </a:defRPr>
            </a:pPr>
            <a:r>
              <a:t>2. Assess the degree and sources of between-study heterogeneity</a:t>
            </a:r>
          </a:p>
          <a:p>
            <a:pPr>
              <a:spcAft>
                <a:spcPts val="600"/>
              </a:spcAft>
            </a:pPr>
          </a:p>
          <a:p>
            <a:pPr>
              <a:spcAft>
                <a:spcPts val="400"/>
              </a:spcAft>
              <a:defRPr sz="2200" b="0">
                <a:solidFill>
                  <a:srgbClr val="2D2D2D"/>
                </a:solidFill>
                <a:latin typeface="Calibri"/>
              </a:defRPr>
            </a:pPr>
            <a:r>
              <a:t>3. Evaluate the effect of geographic latitude on vaccine efficacy via meta-regression</a:t>
            </a:r>
          </a:p>
          <a:p>
            <a:pPr>
              <a:spcAft>
                <a:spcPts val="600"/>
              </a:spcAft>
            </a:pPr>
          </a:p>
          <a:p>
            <a:pPr>
              <a:spcAft>
                <a:spcPts val="400"/>
              </a:spcAft>
              <a:defRPr sz="2200" b="0">
                <a:solidFill>
                  <a:srgbClr val="2D2D2D"/>
                </a:solidFill>
                <a:latin typeface="Calibri"/>
              </a:defRPr>
            </a:pPr>
            <a:r>
              <a:t>4. Test the robustness of findings through sensitivity and publication bias analyses</a:t>
            </a:r>
          </a:p>
        </p:txBody>
      </p:sp>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Methods</a:t>
            </a:r>
          </a:p>
        </p:txBody>
      </p:sp>
      <p:sp>
        <p:nvSpPr>
          <p:cNvPr id="5" name="TextBox 4"/>
          <p:cNvSpPr txBox="1"/>
          <p:nvPr/>
        </p:nvSpPr>
        <p:spPr>
          <a:xfrm>
            <a:off x="548640" y="1371600"/>
            <a:ext cx="5029200" cy="5029200"/>
          </a:xfrm>
          <a:prstGeom prst="rect">
            <a:avLst/>
          </a:prstGeom>
          <a:noFill/>
        </p:spPr>
        <p:txBody>
          <a:bodyPr wrap="square">
            <a:spAutoFit/>
          </a:bodyPr>
          <a:lstStyle/>
          <a:p>
            <a:pPr>
              <a:spcAft>
                <a:spcPts val="400"/>
              </a:spcAft>
              <a:defRPr sz="1700" b="0">
                <a:solidFill>
                  <a:srgbClr val="2D2D2D"/>
                </a:solidFill>
                <a:latin typeface="Calibri"/>
              </a:defRPr>
            </a:pPr>
            <a:r>
              <a:t>Data Source</a:t>
            </a:r>
          </a:p>
          <a:p>
            <a:pPr>
              <a:spcAft>
                <a:spcPts val="400"/>
              </a:spcAft>
              <a:defRPr sz="1700" b="0">
                <a:solidFill>
                  <a:srgbClr val="2D2D2D"/>
                </a:solidFill>
                <a:latin typeface="Calibri"/>
              </a:defRPr>
            </a:pPr>
            <a:r>
              <a:t>13 RCTs from Colditz et al. (1994)</a:t>
            </a:r>
          </a:p>
          <a:p>
            <a:pPr>
              <a:spcAft>
                <a:spcPts val="400"/>
              </a:spcAft>
              <a:defRPr sz="1700" b="0">
                <a:solidFill>
                  <a:srgbClr val="2D2D2D"/>
                </a:solidFill>
                <a:latin typeface="Calibri"/>
              </a:defRPr>
            </a:pPr>
            <a:r>
              <a:t>metafor::dat.bcg dataset</a:t>
            </a:r>
          </a:p>
          <a:p>
            <a:pPr>
              <a:spcAft>
                <a:spcPts val="400"/>
              </a:spcAft>
              <a:defRPr sz="1700" b="0">
                <a:solidFill>
                  <a:srgbClr val="2D2D2D"/>
                </a:solidFill>
                <a:latin typeface="Calibri"/>
              </a:defRPr>
            </a:pPr>
            <a:r>
              <a:t>Published 1948-1980</a:t>
            </a:r>
          </a:p>
          <a:p>
            <a:pPr>
              <a:spcAft>
                <a:spcPts val="600"/>
              </a:spcAft>
            </a:pPr>
          </a:p>
          <a:p>
            <a:pPr>
              <a:spcAft>
                <a:spcPts val="400"/>
              </a:spcAft>
              <a:defRPr sz="1700" b="0">
                <a:solidFill>
                  <a:srgbClr val="2D2D2D"/>
                </a:solidFill>
                <a:latin typeface="Calibri"/>
              </a:defRPr>
            </a:pPr>
            <a:r>
              <a:t>Effect Measure</a:t>
            </a:r>
          </a:p>
          <a:p>
            <a:pPr>
              <a:spcAft>
                <a:spcPts val="400"/>
              </a:spcAft>
              <a:defRPr sz="1700" b="0">
                <a:solidFill>
                  <a:srgbClr val="2D2D2D"/>
                </a:solidFill>
                <a:latin typeface="Calibri"/>
              </a:defRPr>
            </a:pPr>
            <a:r>
              <a:t>Risk Ratio (RR) from 2x2 tables</a:t>
            </a:r>
          </a:p>
          <a:p>
            <a:pPr>
              <a:spcAft>
                <a:spcPts val="400"/>
              </a:spcAft>
              <a:defRPr sz="1700" b="0">
                <a:solidFill>
                  <a:srgbClr val="2D2D2D"/>
                </a:solidFill>
                <a:latin typeface="Calibri"/>
              </a:defRPr>
            </a:pPr>
            <a:r>
              <a:t>Log-transformed for analysis</a:t>
            </a:r>
          </a:p>
        </p:txBody>
      </p:sp>
      <p:sp>
        <p:nvSpPr>
          <p:cNvPr id="6" name="TextBox 5"/>
          <p:cNvSpPr txBox="1"/>
          <p:nvPr/>
        </p:nvSpPr>
        <p:spPr>
          <a:xfrm>
            <a:off x="6217920" y="1371600"/>
            <a:ext cx="5303520" cy="5029200"/>
          </a:xfrm>
          <a:prstGeom prst="rect">
            <a:avLst/>
          </a:prstGeom>
          <a:noFill/>
        </p:spPr>
        <p:txBody>
          <a:bodyPr wrap="square">
            <a:spAutoFit/>
          </a:bodyPr>
          <a:lstStyle/>
          <a:p>
            <a:pPr>
              <a:spcAft>
                <a:spcPts val="400"/>
              </a:spcAft>
              <a:defRPr sz="1700" b="0">
                <a:solidFill>
                  <a:srgbClr val="2D2D2D"/>
                </a:solidFill>
                <a:latin typeface="Calibri"/>
              </a:defRPr>
            </a:pPr>
            <a:r>
              <a:t>Statistical Analysis</a:t>
            </a:r>
          </a:p>
          <a:p>
            <a:pPr>
              <a:spcAft>
                <a:spcPts val="400"/>
              </a:spcAft>
              <a:defRPr sz="1700" b="0">
                <a:solidFill>
                  <a:srgbClr val="2D2D2D"/>
                </a:solidFill>
                <a:latin typeface="Calibri"/>
              </a:defRPr>
            </a:pPr>
            <a:r>
              <a:t>Random-effects model (REML)</a:t>
            </a:r>
          </a:p>
          <a:p>
            <a:pPr>
              <a:spcAft>
                <a:spcPts val="400"/>
              </a:spcAft>
              <a:defRPr sz="1700" b="0">
                <a:solidFill>
                  <a:srgbClr val="2D2D2D"/>
                </a:solidFill>
                <a:latin typeface="Calibri"/>
              </a:defRPr>
            </a:pPr>
            <a:r>
              <a:t>Heterogeneity: Q, I-squared, tau-squared</a:t>
            </a:r>
          </a:p>
          <a:p>
            <a:pPr>
              <a:spcAft>
                <a:spcPts val="400"/>
              </a:spcAft>
              <a:defRPr sz="1700" b="0">
                <a:solidFill>
                  <a:srgbClr val="2D2D2D"/>
                </a:solidFill>
                <a:latin typeface="Calibri"/>
              </a:defRPr>
            </a:pPr>
            <a:r>
              <a:t>Subgroup: allocation method</a:t>
            </a:r>
          </a:p>
          <a:p>
            <a:pPr>
              <a:spcAft>
                <a:spcPts val="400"/>
              </a:spcAft>
              <a:defRPr sz="1700" b="0">
                <a:solidFill>
                  <a:srgbClr val="2D2D2D"/>
                </a:solidFill>
                <a:latin typeface="Calibri"/>
              </a:defRPr>
            </a:pPr>
            <a:r>
              <a:t>Meta-regression: absolute latitude</a:t>
            </a:r>
          </a:p>
          <a:p>
            <a:pPr>
              <a:spcAft>
                <a:spcPts val="400"/>
              </a:spcAft>
              <a:defRPr sz="1700" b="0">
                <a:solidFill>
                  <a:srgbClr val="2D2D2D"/>
                </a:solidFill>
                <a:latin typeface="Calibri"/>
              </a:defRPr>
            </a:pPr>
            <a:r>
              <a:t>Publication bias: Egger, Begg, trim-and-fill</a:t>
            </a:r>
          </a:p>
          <a:p>
            <a:pPr>
              <a:spcAft>
                <a:spcPts val="400"/>
              </a:spcAft>
              <a:defRPr sz="1700" b="0">
                <a:solidFill>
                  <a:srgbClr val="2D2D2D"/>
                </a:solidFill>
                <a:latin typeface="Calibri"/>
              </a:defRPr>
            </a:pPr>
            <a:r>
              <a:t>Sensitivity: leave-one-out</a:t>
            </a:r>
          </a:p>
          <a:p>
            <a:pPr>
              <a:spcAft>
                <a:spcPts val="400"/>
              </a:spcAft>
              <a:defRPr sz="1700" b="0">
                <a:solidFill>
                  <a:srgbClr val="2D2D2D"/>
                </a:solidFill>
                <a:latin typeface="Calibri"/>
              </a:defRPr>
            </a:pPr>
            <a:r>
              <a:t>Software: R + metafor package</a:t>
            </a:r>
          </a:p>
        </p:txBody>
      </p:sp>
      <p:sp>
        <p:nvSpPr>
          <p:cNvPr id="7" name="TextBox 6"/>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Results: Forest Plot</a:t>
            </a:r>
          </a:p>
        </p:txBody>
      </p:sp>
      <p:pic>
        <p:nvPicPr>
          <p:cNvPr id="5" name="Picture 4" descr="forest_plot.png"/>
          <p:cNvPicPr>
            <a:picLocks noChangeAspect="1"/>
          </p:cNvPicPr>
          <p:nvPr/>
        </p:nvPicPr>
        <p:blipFill>
          <a:blip r:embed="rId2"/>
          <a:stretch>
            <a:fillRect/>
          </a:stretch>
        </p:blipFill>
        <p:spPr>
          <a:xfrm>
            <a:off x="914400" y="1188720"/>
            <a:ext cx="10332720" cy="5303520"/>
          </a:xfrm>
          <a:prstGeom prst="rect">
            <a:avLst/>
          </a:prstGeom>
        </p:spPr>
      </p:pic>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Heterogeneity Assessment</a:t>
            </a: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400"/>
              </a:spcAft>
              <a:defRPr sz="1800" b="0">
                <a:solidFill>
                  <a:srgbClr val="2D2D2D"/>
                </a:solidFill>
                <a:latin typeface="Calibri"/>
              </a:defRPr>
            </a:pPr>
            <a:r>
              <a:t>Overall Pooled Estimate</a:t>
            </a:r>
          </a:p>
          <a:p>
            <a:pPr>
              <a:spcAft>
                <a:spcPts val="400"/>
              </a:spcAft>
              <a:defRPr sz="1800" b="0">
                <a:solidFill>
                  <a:srgbClr val="2D2D2D"/>
                </a:solidFill>
                <a:latin typeface="Calibri"/>
              </a:defRPr>
            </a:pPr>
            <a:r>
              <a:t>RR = 0.489 (95% CI: 0.344 - 0.696)</a:t>
            </a:r>
          </a:p>
          <a:p>
            <a:pPr>
              <a:spcAft>
                <a:spcPts val="400"/>
              </a:spcAft>
              <a:defRPr sz="1800" b="0">
                <a:solidFill>
                  <a:srgbClr val="2D2D2D"/>
                </a:solidFill>
                <a:latin typeface="Calibri"/>
              </a:defRPr>
            </a:pPr>
            <a:r>
              <a:t>Prediction interval: 0.155 - 1.549</a:t>
            </a:r>
          </a:p>
          <a:p>
            <a:pPr>
              <a:spcAft>
                <a:spcPts val="600"/>
              </a:spcAft>
            </a:pPr>
          </a:p>
          <a:p>
            <a:pPr>
              <a:spcAft>
                <a:spcPts val="400"/>
              </a:spcAft>
              <a:defRPr sz="1800" b="0">
                <a:solidFill>
                  <a:srgbClr val="2D2D2D"/>
                </a:solidFill>
                <a:latin typeface="Calibri"/>
              </a:defRPr>
            </a:pPr>
            <a:r>
              <a:t>Heterogeneity Metrics</a:t>
            </a:r>
          </a:p>
          <a:p>
            <a:pPr>
              <a:spcAft>
                <a:spcPts val="400"/>
              </a:spcAft>
              <a:defRPr sz="1800" b="0">
                <a:solidFill>
                  <a:srgbClr val="2D2D2D"/>
                </a:solidFill>
                <a:latin typeface="Calibri"/>
              </a:defRPr>
            </a:pPr>
            <a:r>
              <a:t>Q = 152.23 (df = 12, p &lt; 0.001)</a:t>
            </a:r>
          </a:p>
          <a:p>
            <a:pPr>
              <a:spcAft>
                <a:spcPts val="400"/>
              </a:spcAft>
              <a:defRPr sz="1800" b="0">
                <a:solidFill>
                  <a:srgbClr val="2D2D2D"/>
                </a:solidFill>
                <a:latin typeface="Calibri"/>
              </a:defRPr>
            </a:pPr>
            <a:r>
              <a:t>I-squared = 92.2% (substantial heterogeneity)</a:t>
            </a:r>
          </a:p>
          <a:p>
            <a:pPr>
              <a:spcAft>
                <a:spcPts val="400"/>
              </a:spcAft>
              <a:defRPr sz="1800" b="0">
                <a:solidFill>
                  <a:srgbClr val="2D2D2D"/>
                </a:solidFill>
                <a:latin typeface="Calibri"/>
              </a:defRPr>
            </a:pPr>
            <a:r>
              <a:t>Tau-squared = 0.3132</a:t>
            </a:r>
          </a:p>
          <a:p>
            <a:pPr>
              <a:spcAft>
                <a:spcPts val="600"/>
              </a:spcAft>
            </a:pPr>
          </a:p>
          <a:p>
            <a:pPr>
              <a:spcAft>
                <a:spcPts val="400"/>
              </a:spcAft>
              <a:defRPr sz="1800" b="0">
                <a:solidFill>
                  <a:srgbClr val="2D2D2D"/>
                </a:solidFill>
                <a:latin typeface="Calibri"/>
              </a:defRPr>
            </a:pPr>
            <a:r>
              <a:t>Subgroup Analysis (by allocation method)</a:t>
            </a:r>
          </a:p>
          <a:p>
            <a:pPr>
              <a:spcAft>
                <a:spcPts val="400"/>
              </a:spcAft>
              <a:defRPr sz="1800" b="0">
                <a:solidFill>
                  <a:srgbClr val="2D2D2D"/>
                </a:solidFill>
                <a:latin typeface="Calibri"/>
              </a:defRPr>
            </a:pPr>
            <a:r>
              <a:t>Random (k=7): RR = 0.379 (0.221 - 0.650), I-squared = 89.9%</a:t>
            </a:r>
          </a:p>
          <a:p>
            <a:pPr>
              <a:spcAft>
                <a:spcPts val="400"/>
              </a:spcAft>
              <a:defRPr sz="1800" b="0">
                <a:solidFill>
                  <a:srgbClr val="2D2D2D"/>
                </a:solidFill>
                <a:latin typeface="Calibri"/>
              </a:defRPr>
            </a:pPr>
            <a:r>
              <a:t>Alternate (k=2): RR = 0.582 (0.335 - 1.011), I-squared = 82.0%</a:t>
            </a:r>
          </a:p>
          <a:p>
            <a:pPr>
              <a:spcAft>
                <a:spcPts val="400"/>
              </a:spcAft>
              <a:defRPr sz="1800" b="0">
                <a:solidFill>
                  <a:srgbClr val="2D2D2D"/>
                </a:solidFill>
                <a:latin typeface="Calibri"/>
              </a:defRPr>
            </a:pPr>
            <a:r>
              <a:t>Systematic (k=4): RR = 0.654 (0.323 - 1.324), I-squared = 86.4%</a:t>
            </a:r>
          </a:p>
        </p:txBody>
      </p:sp>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Meta-Regression: Latitude Effect</a:t>
            </a:r>
          </a:p>
        </p:txBody>
      </p:sp>
      <p:pic>
        <p:nvPicPr>
          <p:cNvPr id="5" name="Picture 4" descr="bubble_plot.png"/>
          <p:cNvPicPr>
            <a:picLocks noChangeAspect="1"/>
          </p:cNvPicPr>
          <p:nvPr/>
        </p:nvPicPr>
        <p:blipFill>
          <a:blip r:embed="rId2"/>
          <a:stretch>
            <a:fillRect/>
          </a:stretch>
        </p:blipFill>
        <p:spPr>
          <a:xfrm>
            <a:off x="457200" y="1188720"/>
            <a:ext cx="7315200" cy="5303520"/>
          </a:xfrm>
          <a:prstGeom prst="rect">
            <a:avLst/>
          </a:prstGeom>
        </p:spPr>
      </p:pic>
      <p:sp>
        <p:nvSpPr>
          <p:cNvPr id="6" name="TextBox 5"/>
          <p:cNvSpPr txBox="1"/>
          <p:nvPr/>
        </p:nvSpPr>
        <p:spPr>
          <a:xfrm>
            <a:off x="8046720" y="1371600"/>
            <a:ext cx="3657600" cy="5029200"/>
          </a:xfrm>
          <a:prstGeom prst="rect">
            <a:avLst/>
          </a:prstGeom>
          <a:noFill/>
        </p:spPr>
        <p:txBody>
          <a:bodyPr wrap="square">
            <a:spAutoFit/>
          </a:bodyPr>
          <a:lstStyle/>
          <a:p>
            <a:pPr>
              <a:spcAft>
                <a:spcPts val="400"/>
              </a:spcAft>
              <a:defRPr sz="1700" b="0">
                <a:solidFill>
                  <a:srgbClr val="2D2D2D"/>
                </a:solidFill>
                <a:latin typeface="Calibri"/>
              </a:defRPr>
            </a:pPr>
            <a:r>
              <a:t>Key Findings</a:t>
            </a:r>
          </a:p>
          <a:p>
            <a:pPr>
              <a:spcAft>
                <a:spcPts val="600"/>
              </a:spcAft>
            </a:pPr>
          </a:p>
          <a:p>
            <a:pPr>
              <a:spcAft>
                <a:spcPts val="400"/>
              </a:spcAft>
              <a:defRPr sz="1700" b="0">
                <a:solidFill>
                  <a:srgbClr val="2D2D2D"/>
                </a:solidFill>
                <a:latin typeface="Calibri"/>
              </a:defRPr>
            </a:pPr>
            <a:r>
              <a:t>Coefficient: -0.0291</a:t>
            </a:r>
          </a:p>
          <a:p>
            <a:pPr>
              <a:spcAft>
                <a:spcPts val="400"/>
              </a:spcAft>
              <a:defRPr sz="1700" b="0">
                <a:solidFill>
                  <a:srgbClr val="2D2D2D"/>
                </a:solidFill>
                <a:latin typeface="Calibri"/>
              </a:defRPr>
            </a:pPr>
            <a:r>
              <a:t>(SE = 0.0072, p &lt; 0.001)</a:t>
            </a:r>
          </a:p>
          <a:p>
            <a:pPr>
              <a:spcAft>
                <a:spcPts val="600"/>
              </a:spcAft>
            </a:pPr>
          </a:p>
          <a:p>
            <a:pPr>
              <a:spcAft>
                <a:spcPts val="400"/>
              </a:spcAft>
              <a:defRPr sz="1700" b="0">
                <a:solidFill>
                  <a:srgbClr val="2D2D2D"/>
                </a:solidFill>
                <a:latin typeface="Calibri"/>
              </a:defRPr>
            </a:pPr>
            <a:r>
              <a:t>R-squared = 75.6%</a:t>
            </a:r>
          </a:p>
          <a:p>
            <a:pPr>
              <a:spcAft>
                <a:spcPts val="600"/>
              </a:spcAft>
            </a:pPr>
          </a:p>
          <a:p>
            <a:pPr>
              <a:spcAft>
                <a:spcPts val="400"/>
              </a:spcAft>
              <a:defRPr sz="1700" b="0">
                <a:solidFill>
                  <a:srgbClr val="2D2D2D"/>
                </a:solidFill>
                <a:latin typeface="Calibri"/>
              </a:defRPr>
            </a:pPr>
            <a:r>
              <a:t>Higher latitude</a:t>
            </a:r>
          </a:p>
          <a:p>
            <a:pPr>
              <a:spcAft>
                <a:spcPts val="400"/>
              </a:spcAft>
              <a:defRPr sz="1700" b="0">
                <a:solidFill>
                  <a:srgbClr val="2D2D2D"/>
                </a:solidFill>
                <a:latin typeface="Calibri"/>
              </a:defRPr>
            </a:pPr>
            <a:r>
              <a:t>= greater efficacy</a:t>
            </a:r>
          </a:p>
          <a:p>
            <a:pPr>
              <a:spcAft>
                <a:spcPts val="600"/>
              </a:spcAft>
            </a:pPr>
          </a:p>
          <a:p>
            <a:pPr>
              <a:spcAft>
                <a:spcPts val="400"/>
              </a:spcAft>
              <a:defRPr sz="1700" b="0">
                <a:solidFill>
                  <a:srgbClr val="2D2D2D"/>
                </a:solidFill>
                <a:latin typeface="Calibri"/>
              </a:defRPr>
            </a:pPr>
            <a:r>
              <a:t>Consistent with NTM</a:t>
            </a:r>
          </a:p>
          <a:p>
            <a:pPr>
              <a:spcAft>
                <a:spcPts val="400"/>
              </a:spcAft>
              <a:defRPr sz="1700" b="0">
                <a:solidFill>
                  <a:srgbClr val="2D2D2D"/>
                </a:solidFill>
                <a:latin typeface="Calibri"/>
              </a:defRPr>
            </a:pPr>
            <a:r>
              <a:t>exposure hypothesis</a:t>
            </a:r>
          </a:p>
        </p:txBody>
      </p:sp>
      <p:sp>
        <p:nvSpPr>
          <p:cNvPr id="7" name="TextBox 6"/>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Publication Bias Assessment</a:t>
            </a:r>
          </a:p>
        </p:txBody>
      </p:sp>
      <p:pic>
        <p:nvPicPr>
          <p:cNvPr id="5" name="Picture 4" descr="funnel_trimfill.png"/>
          <p:cNvPicPr>
            <a:picLocks noChangeAspect="1"/>
          </p:cNvPicPr>
          <p:nvPr/>
        </p:nvPicPr>
        <p:blipFill>
          <a:blip r:embed="rId2"/>
          <a:stretch>
            <a:fillRect/>
          </a:stretch>
        </p:blipFill>
        <p:spPr>
          <a:xfrm>
            <a:off x="457200" y="1188720"/>
            <a:ext cx="6858000" cy="5029200"/>
          </a:xfrm>
          <a:prstGeom prst="rect">
            <a:avLst/>
          </a:prstGeom>
        </p:spPr>
      </p:pic>
      <p:sp>
        <p:nvSpPr>
          <p:cNvPr id="6" name="TextBox 5"/>
          <p:cNvSpPr txBox="1"/>
          <p:nvPr/>
        </p:nvSpPr>
        <p:spPr>
          <a:xfrm>
            <a:off x="7772400" y="1371600"/>
            <a:ext cx="3931920" cy="5029200"/>
          </a:xfrm>
          <a:prstGeom prst="rect">
            <a:avLst/>
          </a:prstGeom>
          <a:noFill/>
        </p:spPr>
        <p:txBody>
          <a:bodyPr wrap="square">
            <a:spAutoFit/>
          </a:bodyPr>
          <a:lstStyle/>
          <a:p>
            <a:pPr>
              <a:spcAft>
                <a:spcPts val="400"/>
              </a:spcAft>
              <a:defRPr sz="1700" b="0">
                <a:solidFill>
                  <a:srgbClr val="2D2D2D"/>
                </a:solidFill>
                <a:latin typeface="Calibri"/>
              </a:defRPr>
            </a:pPr>
            <a:r>
              <a:t>Statistical Tests</a:t>
            </a:r>
          </a:p>
          <a:p>
            <a:pPr>
              <a:spcAft>
                <a:spcPts val="600"/>
              </a:spcAft>
            </a:pPr>
          </a:p>
          <a:p>
            <a:pPr>
              <a:spcAft>
                <a:spcPts val="400"/>
              </a:spcAft>
              <a:defRPr sz="1700" b="0">
                <a:solidFill>
                  <a:srgbClr val="2D2D2D"/>
                </a:solidFill>
                <a:latin typeface="Calibri"/>
              </a:defRPr>
            </a:pPr>
            <a:r>
              <a:t>Egger's test:</a:t>
            </a:r>
          </a:p>
          <a:p>
            <a:pPr>
              <a:spcAft>
                <a:spcPts val="400"/>
              </a:spcAft>
              <a:defRPr sz="1700" b="0">
                <a:solidFill>
                  <a:srgbClr val="2D2D2D"/>
                </a:solidFill>
                <a:latin typeface="Calibri"/>
              </a:defRPr>
            </a:pPr>
            <a:r>
              <a:t>p = 0.189 (NS)</a:t>
            </a:r>
          </a:p>
          <a:p>
            <a:pPr>
              <a:spcAft>
                <a:spcPts val="600"/>
              </a:spcAft>
            </a:pPr>
          </a:p>
          <a:p>
            <a:pPr>
              <a:spcAft>
                <a:spcPts val="400"/>
              </a:spcAft>
              <a:defRPr sz="1700" b="0">
                <a:solidFill>
                  <a:srgbClr val="2D2D2D"/>
                </a:solidFill>
                <a:latin typeface="Calibri"/>
              </a:defRPr>
            </a:pPr>
            <a:r>
              <a:t>Begg's test:</a:t>
            </a:r>
          </a:p>
          <a:p>
            <a:pPr>
              <a:spcAft>
                <a:spcPts val="400"/>
              </a:spcAft>
              <a:defRPr sz="1700" b="0">
                <a:solidFill>
                  <a:srgbClr val="2D2D2D"/>
                </a:solidFill>
                <a:latin typeface="Calibri"/>
              </a:defRPr>
            </a:pPr>
            <a:r>
              <a:t>p = 0.952 (NS)</a:t>
            </a:r>
          </a:p>
          <a:p>
            <a:pPr>
              <a:spcAft>
                <a:spcPts val="600"/>
              </a:spcAft>
            </a:pPr>
          </a:p>
          <a:p>
            <a:pPr>
              <a:spcAft>
                <a:spcPts val="400"/>
              </a:spcAft>
              <a:defRPr sz="1700" b="0">
                <a:solidFill>
                  <a:srgbClr val="2D2D2D"/>
                </a:solidFill>
                <a:latin typeface="Calibri"/>
              </a:defRPr>
            </a:pPr>
            <a:r>
              <a:t>Trim-and-fill:</a:t>
            </a:r>
          </a:p>
          <a:p>
            <a:pPr>
              <a:spcAft>
                <a:spcPts val="400"/>
              </a:spcAft>
              <a:defRPr sz="1700" b="0">
                <a:solidFill>
                  <a:srgbClr val="2D2D2D"/>
                </a:solidFill>
                <a:latin typeface="Calibri"/>
              </a:defRPr>
            </a:pPr>
            <a:r>
              <a:t>1 study imputed</a:t>
            </a:r>
          </a:p>
          <a:p>
            <a:pPr>
              <a:spcAft>
                <a:spcPts val="400"/>
              </a:spcAft>
              <a:defRPr sz="1700" b="0">
                <a:solidFill>
                  <a:srgbClr val="2D2D2D"/>
                </a:solidFill>
                <a:latin typeface="Calibri"/>
              </a:defRPr>
            </a:pPr>
            <a:r>
              <a:t>Adjusted RR = 0.518</a:t>
            </a:r>
          </a:p>
          <a:p>
            <a:pPr>
              <a:spcAft>
                <a:spcPts val="400"/>
              </a:spcAft>
              <a:defRPr sz="1700" b="0">
                <a:solidFill>
                  <a:srgbClr val="2D2D2D"/>
                </a:solidFill>
                <a:latin typeface="Calibri"/>
              </a:defRPr>
            </a:pPr>
            <a:r>
              <a:t>(95% CI: 0.365-0.736)</a:t>
            </a:r>
          </a:p>
          <a:p>
            <a:pPr>
              <a:spcAft>
                <a:spcPts val="600"/>
              </a:spcAft>
            </a:pPr>
          </a:p>
          <a:p>
            <a:pPr>
              <a:spcAft>
                <a:spcPts val="400"/>
              </a:spcAft>
              <a:defRPr sz="1700" b="0">
                <a:solidFill>
                  <a:srgbClr val="2D2D2D"/>
                </a:solidFill>
                <a:latin typeface="Calibri"/>
              </a:defRPr>
            </a:pPr>
            <a:r>
              <a:t>No significant</a:t>
            </a:r>
          </a:p>
          <a:p>
            <a:pPr>
              <a:spcAft>
                <a:spcPts val="400"/>
              </a:spcAft>
              <a:defRPr sz="1700" b="0">
                <a:solidFill>
                  <a:srgbClr val="2D2D2D"/>
                </a:solidFill>
                <a:latin typeface="Calibri"/>
              </a:defRPr>
            </a:pPr>
            <a:r>
              <a:t>publication bias detected</a:t>
            </a:r>
          </a:p>
        </p:txBody>
      </p:sp>
      <p:sp>
        <p:nvSpPr>
          <p:cNvPr id="7" name="TextBox 6"/>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Sensitivity Analysis: Leave-One-Out</a:t>
            </a: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400"/>
              </a:spcAft>
              <a:defRPr sz="1900" b="0">
                <a:solidFill>
                  <a:srgbClr val="2D2D2D"/>
                </a:solidFill>
                <a:latin typeface="Calibri"/>
              </a:defRPr>
            </a:pPr>
            <a:r>
              <a:t>Leave-One-Out Results</a:t>
            </a:r>
          </a:p>
          <a:p>
            <a:pPr>
              <a:spcAft>
                <a:spcPts val="400"/>
              </a:spcAft>
              <a:defRPr sz="1900" b="0">
                <a:solidFill>
                  <a:srgbClr val="2D2D2D"/>
                </a:solidFill>
                <a:latin typeface="Calibri"/>
              </a:defRPr>
            </a:pPr>
            <a:r>
              <a:t>All 13 leave-one-out pooled RR estimates remain statistically significant</a:t>
            </a:r>
          </a:p>
          <a:p>
            <a:pPr>
              <a:spcAft>
                <a:spcPts val="400"/>
              </a:spcAft>
              <a:defRPr sz="1900" b="0">
                <a:solidFill>
                  <a:srgbClr val="2D2D2D"/>
                </a:solidFill>
                <a:latin typeface="Calibri"/>
              </a:defRPr>
            </a:pPr>
            <a:r>
              <a:t>Range of pooled RR: 0.452 to 0.533</a:t>
            </a:r>
          </a:p>
          <a:p>
            <a:pPr>
              <a:spcAft>
                <a:spcPts val="400"/>
              </a:spcAft>
              <a:defRPr sz="1900" b="0">
                <a:solidFill>
                  <a:srgbClr val="2D2D2D"/>
                </a:solidFill>
                <a:latin typeface="Calibri"/>
              </a:defRPr>
            </a:pPr>
            <a:r>
              <a:t>No single study reverses the overall conclusion</a:t>
            </a:r>
          </a:p>
          <a:p>
            <a:pPr>
              <a:spcAft>
                <a:spcPts val="600"/>
              </a:spcAft>
            </a:pPr>
          </a:p>
          <a:p>
            <a:pPr>
              <a:spcAft>
                <a:spcPts val="400"/>
              </a:spcAft>
              <a:defRPr sz="1900" b="0">
                <a:solidFill>
                  <a:srgbClr val="2D2D2D"/>
                </a:solidFill>
                <a:latin typeface="Calibri"/>
              </a:defRPr>
            </a:pPr>
            <a:r>
              <a:t>Influence Diagnostics</a:t>
            </a:r>
          </a:p>
          <a:p>
            <a:pPr>
              <a:spcAft>
                <a:spcPts val="400"/>
              </a:spcAft>
              <a:defRPr sz="1900" b="0">
                <a:solidFill>
                  <a:srgbClr val="2D2D2D"/>
                </a:solidFill>
                <a:latin typeface="Calibri"/>
              </a:defRPr>
            </a:pPr>
            <a:r>
              <a:t>No studies with |externally standardized residual| &gt; 2</a:t>
            </a:r>
          </a:p>
          <a:p>
            <a:pPr>
              <a:spcAft>
                <a:spcPts val="400"/>
              </a:spcAft>
              <a:defRPr sz="1900" b="0">
                <a:solidFill>
                  <a:srgbClr val="2D2D2D"/>
                </a:solidFill>
                <a:latin typeface="Calibri"/>
              </a:defRPr>
            </a:pPr>
            <a:r>
              <a:t>No unduly influential individual studies detected</a:t>
            </a:r>
          </a:p>
          <a:p>
            <a:pPr>
              <a:spcAft>
                <a:spcPts val="600"/>
              </a:spcAft>
            </a:pPr>
          </a:p>
          <a:p>
            <a:pPr>
              <a:spcAft>
                <a:spcPts val="400"/>
              </a:spcAft>
              <a:defRPr sz="1900" b="0">
                <a:solidFill>
                  <a:srgbClr val="2D2D2D"/>
                </a:solidFill>
                <a:latin typeface="Calibri"/>
              </a:defRPr>
            </a:pPr>
            <a:r>
              <a:t>Interpretation</a:t>
            </a:r>
          </a:p>
          <a:p>
            <a:pPr>
              <a:spcAft>
                <a:spcPts val="400"/>
              </a:spcAft>
              <a:defRPr sz="1900" b="0">
                <a:solidFill>
                  <a:srgbClr val="2D2D2D"/>
                </a:solidFill>
                <a:latin typeface="Calibri"/>
              </a:defRPr>
            </a:pPr>
            <a:r>
              <a:t>The protective effect of BCG vaccination is robust</a:t>
            </a:r>
          </a:p>
          <a:p>
            <a:pPr>
              <a:spcAft>
                <a:spcPts val="400"/>
              </a:spcAft>
              <a:defRPr sz="1900" b="0">
                <a:solidFill>
                  <a:srgbClr val="2D2D2D"/>
                </a:solidFill>
                <a:latin typeface="Calibri"/>
              </a:defRPr>
            </a:pPr>
            <a:r>
              <a:t>Pooled estimate is not driven by any single trial</a:t>
            </a:r>
          </a:p>
          <a:p>
            <a:pPr>
              <a:spcAft>
                <a:spcPts val="400"/>
              </a:spcAft>
              <a:defRPr sz="1900" b="0">
                <a:solidFill>
                  <a:srgbClr val="2D2D2D"/>
                </a:solidFill>
                <a:latin typeface="Calibri"/>
              </a:defRPr>
            </a:pPr>
            <a:r>
              <a:t>Results are stable across all sensitivity checks</a:t>
            </a:r>
          </a:p>
        </p:txBody>
      </p:sp>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Conclusions</a:t>
            </a: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400"/>
              </a:spcAft>
              <a:defRPr sz="2000" b="0">
                <a:solidFill>
                  <a:srgbClr val="2D2D2D"/>
                </a:solidFill>
                <a:latin typeface="Calibri"/>
              </a:defRPr>
            </a:pPr>
            <a:r>
              <a:t>1. BCG vaccination significantly reduces TB risk by ~51%</a:t>
            </a:r>
          </a:p>
          <a:p>
            <a:pPr>
              <a:spcAft>
                <a:spcPts val="400"/>
              </a:spcAft>
              <a:defRPr sz="2000" b="0">
                <a:solidFill>
                  <a:srgbClr val="2D2D2D"/>
                </a:solidFill>
                <a:latin typeface="Calibri"/>
              </a:defRPr>
            </a:pPr>
            <a:r>
              <a:t>(RR = 0.489, 95% CI: 0.344-0.696)</a:t>
            </a:r>
          </a:p>
          <a:p>
            <a:pPr>
              <a:spcAft>
                <a:spcPts val="600"/>
              </a:spcAft>
            </a:pPr>
          </a:p>
          <a:p>
            <a:pPr>
              <a:spcAft>
                <a:spcPts val="400"/>
              </a:spcAft>
              <a:defRPr sz="2000" b="0">
                <a:solidFill>
                  <a:srgbClr val="2D2D2D"/>
                </a:solidFill>
                <a:latin typeface="Calibri"/>
              </a:defRPr>
            </a:pPr>
            <a:r>
              <a:t>2. Substantial heterogeneity (I-squared = 92.2%) driven primarily</a:t>
            </a:r>
          </a:p>
          <a:p>
            <a:pPr>
              <a:spcAft>
                <a:spcPts val="400"/>
              </a:spcAft>
              <a:defRPr sz="2000" b="0">
                <a:solidFill>
                  <a:srgbClr val="2D2D2D"/>
                </a:solidFill>
                <a:latin typeface="Calibri"/>
              </a:defRPr>
            </a:pPr>
            <a:r>
              <a:t>by geographic latitude (R-squared = 75.6%)</a:t>
            </a:r>
          </a:p>
          <a:p>
            <a:pPr>
              <a:spcAft>
                <a:spcPts val="600"/>
              </a:spcAft>
            </a:pPr>
          </a:p>
          <a:p>
            <a:pPr>
              <a:spcAft>
                <a:spcPts val="400"/>
              </a:spcAft>
              <a:defRPr sz="2000" b="0">
                <a:solidFill>
                  <a:srgbClr val="2D2D2D"/>
                </a:solidFill>
                <a:latin typeface="Calibri"/>
              </a:defRPr>
            </a:pPr>
            <a:r>
              <a:t>3. Greater efficacy at higher latitudes, consistent with NTM</a:t>
            </a:r>
          </a:p>
          <a:p>
            <a:pPr>
              <a:spcAft>
                <a:spcPts val="400"/>
              </a:spcAft>
              <a:defRPr sz="2000" b="0">
                <a:solidFill>
                  <a:srgbClr val="2D2D2D"/>
                </a:solidFill>
                <a:latin typeface="Calibri"/>
              </a:defRPr>
            </a:pPr>
            <a:r>
              <a:t>exposure hypothesis</a:t>
            </a:r>
          </a:p>
          <a:p>
            <a:pPr>
              <a:spcAft>
                <a:spcPts val="600"/>
              </a:spcAft>
            </a:pPr>
          </a:p>
          <a:p>
            <a:pPr>
              <a:spcAft>
                <a:spcPts val="400"/>
              </a:spcAft>
              <a:defRPr sz="2000" b="0">
                <a:solidFill>
                  <a:srgbClr val="2D2D2D"/>
                </a:solidFill>
                <a:latin typeface="Calibri"/>
              </a:defRPr>
            </a:pPr>
            <a:r>
              <a:t>4. No significant publication bias; results robust to</a:t>
            </a:r>
          </a:p>
          <a:p>
            <a:pPr>
              <a:spcAft>
                <a:spcPts val="400"/>
              </a:spcAft>
              <a:defRPr sz="2000" b="0">
                <a:solidFill>
                  <a:srgbClr val="2D2D2D"/>
                </a:solidFill>
                <a:latin typeface="Calibri"/>
              </a:defRPr>
            </a:pPr>
            <a:r>
              <a:t>leave-one-out sensitivity analysis</a:t>
            </a:r>
          </a:p>
          <a:p>
            <a:pPr>
              <a:spcAft>
                <a:spcPts val="600"/>
              </a:spcAft>
            </a:pPr>
          </a:p>
          <a:p>
            <a:pPr>
              <a:spcAft>
                <a:spcPts val="400"/>
              </a:spcAft>
              <a:defRPr sz="2000" b="0">
                <a:solidFill>
                  <a:srgbClr val="2D2D2D"/>
                </a:solidFill>
                <a:latin typeface="Calibri"/>
              </a:defRPr>
            </a:pPr>
            <a:r>
              <a:t>5. Implications: continued BCG use justified, especially at higher</a:t>
            </a:r>
          </a:p>
          <a:p>
            <a:pPr>
              <a:spcAft>
                <a:spcPts val="400"/>
              </a:spcAft>
              <a:defRPr sz="2000" b="0">
                <a:solidFill>
                  <a:srgbClr val="2D2D2D"/>
                </a:solidFill>
                <a:latin typeface="Calibri"/>
              </a:defRPr>
            </a:pPr>
            <a:r>
              <a:t>latitudes; novel vaccines needed for tropical regions</a:t>
            </a:r>
          </a:p>
        </p:txBody>
      </p:sp>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10972800" cy="777240"/>
          </a:xfrm>
          <a:prstGeom prst="rect">
            <a:avLst/>
          </a:prstGeom>
          <a:noFill/>
        </p:spPr>
        <p:txBody>
          <a:bodyPr wrap="square">
            <a:spAutoFit/>
          </a:bodyPr>
          <a:lstStyle/>
          <a:p>
            <a:pPr>
              <a:defRPr sz="2800" b="1">
                <a:solidFill>
                  <a:srgbClr val="FFFFFF"/>
                </a:solidFill>
                <a:latin typeface="Calibri"/>
              </a:defRPr>
            </a:pPr>
            <a:r>
              <a:t>Limitations</a:t>
            </a:r>
          </a:p>
        </p:txBody>
      </p:sp>
      <p:sp>
        <p:nvSpPr>
          <p:cNvPr id="5" name="TextBox 4"/>
          <p:cNvSpPr txBox="1"/>
          <p:nvPr/>
        </p:nvSpPr>
        <p:spPr>
          <a:xfrm>
            <a:off x="548640" y="1371600"/>
            <a:ext cx="10972800" cy="5029200"/>
          </a:xfrm>
          <a:prstGeom prst="rect">
            <a:avLst/>
          </a:prstGeom>
          <a:noFill/>
        </p:spPr>
        <p:txBody>
          <a:bodyPr wrap="square">
            <a:spAutoFit/>
          </a:bodyPr>
          <a:lstStyle/>
          <a:p>
            <a:pPr>
              <a:spcAft>
                <a:spcPts val="400"/>
              </a:spcAft>
              <a:defRPr sz="1900" b="0">
                <a:solidFill>
                  <a:srgbClr val="2D2D2D"/>
                </a:solidFill>
                <a:latin typeface="Calibri"/>
              </a:defRPr>
            </a:pPr>
            <a:r>
              <a:t>Historical dataset: trials conducted 1948-1980, evolving diagnostics and BCG strains</a:t>
            </a:r>
          </a:p>
          <a:p>
            <a:pPr>
              <a:spcAft>
                <a:spcPts val="600"/>
              </a:spcAft>
            </a:pPr>
          </a:p>
          <a:p>
            <a:pPr>
              <a:spcAft>
                <a:spcPts val="400"/>
              </a:spcAft>
              <a:defRPr sz="1900" b="0">
                <a:solidFill>
                  <a:srgbClr val="2D2D2D"/>
                </a:solidFill>
                <a:latin typeface="Calibri"/>
              </a:defRPr>
            </a:pPr>
            <a:r>
              <a:t>Aggregate data only: no individual patient data for within-study effect modification</a:t>
            </a:r>
          </a:p>
          <a:p>
            <a:pPr>
              <a:spcAft>
                <a:spcPts val="600"/>
              </a:spcAft>
            </a:pPr>
          </a:p>
          <a:p>
            <a:pPr>
              <a:spcAft>
                <a:spcPts val="400"/>
              </a:spcAft>
              <a:defRPr sz="1900" b="0">
                <a:solidFill>
                  <a:srgbClr val="2D2D2D"/>
                </a:solidFill>
                <a:latin typeface="Calibri"/>
              </a:defRPr>
            </a:pPr>
            <a:r>
              <a:t>Small number of studies (k=13): limits power for meta-regression and subgroup analyses</a:t>
            </a:r>
          </a:p>
          <a:p>
            <a:pPr>
              <a:spcAft>
                <a:spcPts val="600"/>
              </a:spcAft>
            </a:pPr>
          </a:p>
          <a:p>
            <a:pPr>
              <a:spcAft>
                <a:spcPts val="400"/>
              </a:spcAft>
              <a:defRPr sz="1900" b="0">
                <a:solidFill>
                  <a:srgbClr val="2D2D2D"/>
                </a:solidFill>
                <a:latin typeface="Calibri"/>
              </a:defRPr>
            </a:pPr>
            <a:r>
              <a:t>Teaching demonstration: uses curated dataset, not a de novo systematic review</a:t>
            </a:r>
          </a:p>
          <a:p>
            <a:pPr>
              <a:spcAft>
                <a:spcPts val="600"/>
              </a:spcAft>
            </a:pPr>
          </a:p>
          <a:p>
            <a:pPr>
              <a:spcAft>
                <a:spcPts val="400"/>
              </a:spcAft>
              <a:defRPr sz="1900" b="0">
                <a:solidFill>
                  <a:srgbClr val="2D2D2D"/>
                </a:solidFill>
                <a:latin typeface="Calibri"/>
              </a:defRPr>
            </a:pPr>
            <a:r>
              <a:t>No formal risk of bias assessment (RoB 2) or GRADE certainty evaluation</a:t>
            </a:r>
          </a:p>
          <a:p>
            <a:pPr>
              <a:spcAft>
                <a:spcPts val="600"/>
              </a:spcAft>
            </a:pPr>
          </a:p>
          <a:p>
            <a:pPr>
              <a:spcAft>
                <a:spcPts val="400"/>
              </a:spcAft>
              <a:defRPr sz="1900" b="0">
                <a:solidFill>
                  <a:srgbClr val="2D2D2D"/>
                </a:solidFill>
                <a:latin typeface="Calibri"/>
              </a:defRPr>
            </a:pPr>
            <a:r>
              <a:t>Wide prediction interval (0.155-1.549) includes 1.0, indicating uncertainty for new settings</a:t>
            </a:r>
          </a:p>
        </p:txBody>
      </p:sp>
      <p:sp>
        <p:nvSpPr>
          <p:cNvPr id="6" name="TextBox 5"/>
          <p:cNvSpPr txBox="1"/>
          <p:nvPr/>
        </p:nvSpPr>
        <p:spPr>
          <a:xfrm>
            <a:off x="10972800" y="6492240"/>
            <a:ext cx="1097280" cy="274320"/>
          </a:xfrm>
          <a:prstGeom prst="rect">
            <a:avLst/>
          </a:prstGeom>
          <a:noFill/>
        </p:spPr>
        <p:txBody>
          <a:bodyPr wrap="none">
            <a:spAutoFit/>
          </a:bodyPr>
          <a:lstStyle/>
          <a:p>
            <a:pPr algn="r">
              <a:defRPr sz="1000">
                <a:solidFill>
                  <a:srgbClr val="666666"/>
                </a:solidFill>
                <a:latin typeface="Calibri"/>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0" y="3474720"/>
            <a:ext cx="4846320"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286000"/>
            <a:ext cx="8503920" cy="1097280"/>
          </a:xfrm>
          <a:prstGeom prst="rect">
            <a:avLst/>
          </a:prstGeom>
          <a:noFill/>
        </p:spPr>
        <p:txBody>
          <a:bodyPr wrap="none">
            <a:spAutoFit/>
          </a:bodyPr>
          <a:lstStyle/>
          <a:p>
            <a:pPr algn="ctr">
              <a:defRPr sz="4400" b="1">
                <a:solidFill>
                  <a:srgbClr val="FFFFFF"/>
                </a:solidFill>
                <a:latin typeface="Calibri"/>
              </a:defRPr>
            </a:pPr>
            <a:r>
              <a:t>Thank You</a:t>
            </a:r>
          </a:p>
        </p:txBody>
      </p:sp>
      <p:sp>
        <p:nvSpPr>
          <p:cNvPr id="5" name="TextBox 4"/>
          <p:cNvSpPr txBox="1"/>
          <p:nvPr/>
        </p:nvSpPr>
        <p:spPr>
          <a:xfrm>
            <a:off x="1828800" y="3840480"/>
            <a:ext cx="8503920" cy="1828800"/>
          </a:xfrm>
          <a:prstGeom prst="rect">
            <a:avLst/>
          </a:prstGeom>
          <a:noFill/>
        </p:spPr>
        <p:txBody>
          <a:bodyPr wrap="none">
            <a:spAutoFit/>
          </a:bodyPr>
          <a:lstStyle/>
          <a:p>
            <a:pPr algn="ctr">
              <a:defRPr sz="2400">
                <a:solidFill>
                  <a:srgbClr val="CCCCCC"/>
                </a:solidFill>
                <a:latin typeface="Calibri"/>
              </a:defRPr>
            </a:pPr>
            <a:r>
              <a:t>Questions?</a:t>
            </a:r>
          </a:p>
          <a:p>
            <a:br/>
            <a:pPr algn="ctr">
              <a:defRPr sz="1400">
                <a:solidFill>
                  <a:srgbClr val="999999"/>
                </a:solidFill>
                <a:latin typeface="Calibri"/>
              </a:defRPr>
            </a:pPr>
            <a:r>
              <a:t>Dataset: metafor::dat.bcg | Reference: Colditz et al. (JAMA 1994)</a:t>
            </a:r>
          </a:p>
          <a:p>
            <a:pPr algn="ctr">
              <a:defRPr sz="1200">
                <a:solidFill>
                  <a:srgbClr val="777777"/>
                </a:solidFill>
                <a:latin typeface="Calibri"/>
              </a:defRPr>
            </a:pPr>
            <a:r>
              <a:t>Generated with MedSci Skills | 2026-04-08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